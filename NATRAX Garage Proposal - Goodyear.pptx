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7" y="9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3206A-5914-8B39-E7C6-4B6550DA9F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585175-B2B2-DDAA-63F9-A81AEBE24B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1676E-E3FF-77A1-FDC2-66CEBEF2E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1F7FB-2BD3-46C8-BC5B-E7A07699E866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5608D4-63CF-C968-245A-08E995ECA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8825FA-706C-438A-A38B-AFC6D59D8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64AB6-7A0F-4C68-ABF6-F50173368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293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C2196-AA07-9261-99EE-134F5601C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AEAFF4-B685-CEDD-2549-9C339CD6F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618667-FE4E-0DB7-966D-3D89463C0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1F7FB-2BD3-46C8-BC5B-E7A07699E866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683452-BB13-7D38-FCBF-09BA21FC6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8285A4-2CE0-CB01-9FD3-CE1A76971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64AB6-7A0F-4C68-ABF6-F50173368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007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494D8-0711-B410-1AE1-0D068472E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5"/>
            <a:ext cx="7886700" cy="2139553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E49865-EE89-2276-65D5-D780215FFC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A40572-A687-459E-3EDC-2DECA4401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1F7FB-2BD3-46C8-BC5B-E7A07699E866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0A098C-4FA9-5883-CE61-CE4C3BE70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8F4DFF-FEA3-0DA7-A82A-999668491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64AB6-7A0F-4C68-ABF6-F50173368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678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CC04B-3C03-DCA2-D4F7-302AB3877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B8DAA-1090-48DE-3B5D-A8CA7EA554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26C5C1-B254-1AEB-6EAF-CE9CA61354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B17F75-CF42-8414-9398-DE74FE4F1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1F7FB-2BD3-46C8-BC5B-E7A07699E866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CC17ED-8E68-07DA-AB57-898B9754F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587FAA-DA9C-6B75-C536-A06076E43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64AB6-7A0F-4C68-ABF6-F50173368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412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20013-8CF2-7CD1-236E-CA5785B3D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5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05DC75-B6C2-8023-807D-F1BB5E69C0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82AE11-BCD7-4DBB-8728-BB49190473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E3C466-97FF-F5DB-2DD3-7BB69D373E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1" y="1260872"/>
            <a:ext cx="3887391" cy="617934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614838-8993-0D17-4DD0-9B5C41FBBB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1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34C5B1-6D45-E026-7514-5381F5BE5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1F7FB-2BD3-46C8-BC5B-E7A07699E866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A3ADFD-F408-84E8-CD33-93E73F9B2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89E3F3-B312-787D-4888-025892CAE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64AB6-7A0F-4C68-ABF6-F50173368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868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C2B4A-AD96-D3DE-D015-0123DC5AA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F03247-60E0-8997-134A-8E1C0AE52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1F7FB-2BD3-46C8-BC5B-E7A07699E866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A0C8E0-FB57-88AC-21D1-D099C724D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F8D312-D17A-5DE4-2196-B46035396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64AB6-7A0F-4C68-ABF6-F50173368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654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E774D7-FD6D-34DA-A900-21FD46457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1F7FB-2BD3-46C8-BC5B-E7A07699E866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7EBA09-F260-2531-7DEE-11DC3B7BF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24B653-AD9D-1067-4334-8CDE4746C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64AB6-7A0F-4C68-ABF6-F50173368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67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A1F5C-D05E-3539-13AB-DF314AF2A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94547-7B83-BDA5-1491-1567C66D45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B52729-0627-C25B-5EF3-7E0B827398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8440C6-1D1D-DEFF-920F-5BB76DA6E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1F7FB-2BD3-46C8-BC5B-E7A07699E866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C25C19-0EC1-3B64-CA70-04B076F30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2D5297-0130-5875-7ACB-7A9497519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64AB6-7A0F-4C68-ABF6-F50173368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650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CB4B9-E781-EC57-2649-77FDA0D5C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C7204C-2195-FD8A-28C2-CD01F36BD6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17415A-F6CD-43BA-E2EA-F26AF535C4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0DB283-2C21-60BD-BBBD-EB4CA8080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1F7FB-2BD3-46C8-BC5B-E7A07699E866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986859-0E29-3F86-5302-5001F9ED4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25D4B8-D88A-C7CE-1C73-69C7320B5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64AB6-7A0F-4C68-ABF6-F50173368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244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D3EB7-74BD-CDD2-71E6-566B05D16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5EA077-F9CE-4BD0-D09A-AEE2DDA9F7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F2E9CF-4052-FA12-408F-04B6594AD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1F7FB-2BD3-46C8-BC5B-E7A07699E866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D450ED-3129-DAD7-0DA8-CC31F370D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890215-2031-8551-E3D0-BC0A9661A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64AB6-7A0F-4C68-ABF6-F50173368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698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A0DEE5-0A94-B612-1DE7-197FD09EA7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C7E1FA-6D2B-5340-0105-64CA380FBD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1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758637-BC61-8FA2-92D3-D64FDCDE2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1F7FB-2BD3-46C8-BC5B-E7A07699E866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48426B-BFFD-8F61-263E-6F9068E10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80DDD-F5B7-DE4B-B30C-82C8E7C7E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64AB6-7A0F-4C68-ABF6-F50173368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969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61D4B0-6120-1FD2-B405-C92CC62DB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5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52EE9E-2674-A7CC-7D0B-CD389C677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7BA876-6AD0-8170-3AF7-538D591B06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D1F7FB-2BD3-46C8-BC5B-E7A07699E866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B816B0-75AA-6C77-10C8-8C55E1BC17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58392D-D46C-9F96-D139-7A646B36E4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164AB6-7A0F-4C68-ABF6-F50173368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834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D38173E-E986-61AC-9A3B-3B9FD0A4CB5D}"/>
              </a:ext>
            </a:extLst>
          </p:cNvPr>
          <p:cNvSpPr txBox="1"/>
          <p:nvPr/>
        </p:nvSpPr>
        <p:spPr>
          <a:xfrm>
            <a:off x="635000" y="1905000"/>
            <a:ext cx="787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F7BA2B"/>
                </a:solidFill>
                <a:latin typeface="Segoe UI" panose="020B0502040204020203" pitchFamily="34" charset="0"/>
              </a:rPr>
              <a:t>FACILITIES PROPOSAL   ·   MANAGEMENT REVIEW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7CB4E0-2F24-396A-01B2-60133C3EF647}"/>
              </a:ext>
            </a:extLst>
          </p:cNvPr>
          <p:cNvSpPr txBox="1"/>
          <p:nvPr/>
        </p:nvSpPr>
        <p:spPr>
          <a:xfrm>
            <a:off x="635000" y="2235200"/>
            <a:ext cx="8128000" cy="123110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4000" b="1">
                <a:solidFill>
                  <a:srgbClr val="FFFFFF"/>
                </a:solidFill>
                <a:latin typeface="Segoe UI" panose="020B0502040204020203" pitchFamily="34" charset="0"/>
              </a:rPr>
              <a:t>A dedicated garage for Goodyear SightLine at NATRAX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08F8A7-D829-A0AC-F72A-127B77A8C27E}"/>
              </a:ext>
            </a:extLst>
          </p:cNvPr>
          <p:cNvSpPr txBox="1"/>
          <p:nvPr/>
        </p:nvSpPr>
        <p:spPr>
          <a:xfrm>
            <a:off x="635000" y="3708400"/>
            <a:ext cx="7112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D2D2D2"/>
                </a:solidFill>
                <a:latin typeface="Segoe UI" panose="020B0502040204020203" pitchFamily="34" charset="0"/>
              </a:rPr>
              <a:t>Securing our equipment, tires, and future at India's flagship proving ground.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0AE8E4-9828-1D62-EC0E-B5FB2EB942F7}"/>
              </a:ext>
            </a:extLst>
          </p:cNvPr>
          <p:cNvSpPr txBox="1"/>
          <p:nvPr/>
        </p:nvSpPr>
        <p:spPr>
          <a:xfrm>
            <a:off x="635000" y="4648200"/>
            <a:ext cx="787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D2D2D2"/>
                </a:solidFill>
                <a:latin typeface="Segoe UI" panose="020B0502040204020203" pitchFamily="34" charset="0"/>
              </a:rPr>
              <a:t>Goodyear SightLine Engineering   ·   NATRAX, Indore   ·   August 2026</a:t>
            </a:r>
          </a:p>
        </p:txBody>
      </p:sp>
    </p:spTree>
    <p:extLst>
      <p:ext uri="{BB962C8B-B14F-4D97-AF65-F5344CB8AC3E}">
        <p14:creationId xmlns:p14="http://schemas.microsoft.com/office/powerpoint/2010/main" val="2466283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69F445E-2EC1-1240-E592-8F9DB711CB0A}"/>
              </a:ext>
            </a:extLst>
          </p:cNvPr>
          <p:cNvSpPr txBox="1"/>
          <p:nvPr/>
        </p:nvSpPr>
        <p:spPr>
          <a:xfrm>
            <a:off x="635000" y="558800"/>
            <a:ext cx="787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F7BA2B"/>
                </a:solidFill>
                <a:latin typeface="Segoe UI" panose="020B0502040204020203" pitchFamily="34" charset="0"/>
              </a:rPr>
              <a:t>ABOUT THE SITE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42F8BF-F8EB-5984-8EDB-BF6A04D5BCC8}"/>
              </a:ext>
            </a:extLst>
          </p:cNvPr>
          <p:cNvSpPr txBox="1"/>
          <p:nvPr/>
        </p:nvSpPr>
        <p:spPr>
          <a:xfrm>
            <a:off x="635000" y="939800"/>
            <a:ext cx="8128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600" b="1">
                <a:solidFill>
                  <a:srgbClr val="FFFFFF"/>
                </a:solidFill>
                <a:latin typeface="Segoe UI" panose="020B0502040204020203" pitchFamily="34" charset="0"/>
              </a:rPr>
              <a:t>India's largest automotive proving ground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4DB224-B300-02CF-0A37-14E471DD71A5}"/>
              </a:ext>
            </a:extLst>
          </p:cNvPr>
          <p:cNvSpPr txBox="1"/>
          <p:nvPr/>
        </p:nvSpPr>
        <p:spPr>
          <a:xfrm>
            <a:off x="635000" y="1778000"/>
            <a:ext cx="1905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400" b="1">
                <a:solidFill>
                  <a:srgbClr val="F7BA2B"/>
                </a:solidFill>
                <a:latin typeface="Segoe UI" panose="020B0502040204020203" pitchFamily="34" charset="0"/>
              </a:rPr>
              <a:t>3,000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96FFCE-73B4-2D92-75FD-BB1E4FDCEC93}"/>
              </a:ext>
            </a:extLst>
          </p:cNvPr>
          <p:cNvSpPr txBox="1"/>
          <p:nvPr/>
        </p:nvSpPr>
        <p:spPr>
          <a:xfrm>
            <a:off x="635000" y="2413000"/>
            <a:ext cx="1905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 b="1">
                <a:solidFill>
                  <a:srgbClr val="D2D2D2"/>
                </a:solidFill>
                <a:latin typeface="Segoe UI" panose="020B0502040204020203" pitchFamily="34" charset="0"/>
              </a:rPr>
              <a:t>ACRES AT PITHAMPUR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6A0AA4-0217-65E4-4610-89A84B2AB4CB}"/>
              </a:ext>
            </a:extLst>
          </p:cNvPr>
          <p:cNvSpPr txBox="1"/>
          <p:nvPr/>
        </p:nvSpPr>
        <p:spPr>
          <a:xfrm>
            <a:off x="2641600" y="1778000"/>
            <a:ext cx="1905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400" b="1">
                <a:solidFill>
                  <a:srgbClr val="F7BA2B"/>
                </a:solidFill>
                <a:latin typeface="Segoe UI" panose="020B0502040204020203" pitchFamily="34" charset="0"/>
              </a:rPr>
              <a:t>14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6A29E6-78BD-7776-288C-A3D823EA035C}"/>
              </a:ext>
            </a:extLst>
          </p:cNvPr>
          <p:cNvSpPr txBox="1"/>
          <p:nvPr/>
        </p:nvSpPr>
        <p:spPr>
          <a:xfrm>
            <a:off x="2641600" y="2413000"/>
            <a:ext cx="1905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 b="1">
                <a:solidFill>
                  <a:srgbClr val="D2D2D2"/>
                </a:solidFill>
                <a:latin typeface="Segoe UI" panose="020B0502040204020203" pitchFamily="34" charset="0"/>
              </a:rPr>
              <a:t>TEST TRACKS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F97DF2B-7BFC-B7A6-4AC5-5DEE74533053}"/>
              </a:ext>
            </a:extLst>
          </p:cNvPr>
          <p:cNvCxnSpPr/>
          <p:nvPr/>
        </p:nvCxnSpPr>
        <p:spPr>
          <a:xfrm>
            <a:off x="2463800" y="1841500"/>
            <a:ext cx="0" cy="762000"/>
          </a:xfrm>
          <a:prstGeom prst="line">
            <a:avLst/>
          </a:prstGeom>
          <a:ln w="12700">
            <a:solidFill>
              <a:srgbClr val="2A3C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7F0EA63-34D6-A48F-5605-B320B1B5D5BB}"/>
              </a:ext>
            </a:extLst>
          </p:cNvPr>
          <p:cNvSpPr txBox="1"/>
          <p:nvPr/>
        </p:nvSpPr>
        <p:spPr>
          <a:xfrm>
            <a:off x="4648200" y="1778000"/>
            <a:ext cx="1905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400" b="1">
                <a:solidFill>
                  <a:srgbClr val="F7BA2B"/>
                </a:solidFill>
                <a:latin typeface="Segoe UI" panose="020B0502040204020203" pitchFamily="34" charset="0"/>
              </a:rPr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EA9E53-FC7B-DFFB-8309-542EDAABB11B}"/>
              </a:ext>
            </a:extLst>
          </p:cNvPr>
          <p:cNvSpPr txBox="1"/>
          <p:nvPr/>
        </p:nvSpPr>
        <p:spPr>
          <a:xfrm>
            <a:off x="4648200" y="2413000"/>
            <a:ext cx="1905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 b="1">
                <a:solidFill>
                  <a:srgbClr val="D2D2D2"/>
                </a:solidFill>
                <a:latin typeface="Segoe UI" panose="020B0502040204020203" pitchFamily="34" charset="0"/>
              </a:rPr>
              <a:t>LABORATORIES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A5AC721-50D9-17E9-FA38-9590BCA312FA}"/>
              </a:ext>
            </a:extLst>
          </p:cNvPr>
          <p:cNvCxnSpPr/>
          <p:nvPr/>
        </p:nvCxnSpPr>
        <p:spPr>
          <a:xfrm>
            <a:off x="4470400" y="1841500"/>
            <a:ext cx="0" cy="762000"/>
          </a:xfrm>
          <a:prstGeom prst="line">
            <a:avLst/>
          </a:prstGeom>
          <a:ln w="12700">
            <a:solidFill>
              <a:srgbClr val="2A3C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6F4AEDD-CE24-28AD-25E7-E0099B0048D5}"/>
              </a:ext>
            </a:extLst>
          </p:cNvPr>
          <p:cNvSpPr txBox="1"/>
          <p:nvPr/>
        </p:nvSpPr>
        <p:spPr>
          <a:xfrm>
            <a:off x="6654800" y="1778000"/>
            <a:ext cx="1905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400" b="1">
                <a:solidFill>
                  <a:srgbClr val="F7BA2B"/>
                </a:solidFill>
                <a:latin typeface="Segoe UI" panose="020B0502040204020203" pitchFamily="34" charset="0"/>
              </a:rPr>
              <a:t>NABL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B0F8BA-F644-5E03-3C49-EAB8CA69DE01}"/>
              </a:ext>
            </a:extLst>
          </p:cNvPr>
          <p:cNvSpPr txBox="1"/>
          <p:nvPr/>
        </p:nvSpPr>
        <p:spPr>
          <a:xfrm>
            <a:off x="6654800" y="2413000"/>
            <a:ext cx="1905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 b="1">
                <a:solidFill>
                  <a:srgbClr val="D2D2D2"/>
                </a:solidFill>
                <a:latin typeface="Segoe UI" panose="020B0502040204020203" pitchFamily="34" charset="0"/>
              </a:rPr>
              <a:t>ACCREDITED · SINCE 2022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BE02CBA-91A1-C02E-A030-9EB2CA03336A}"/>
              </a:ext>
            </a:extLst>
          </p:cNvPr>
          <p:cNvCxnSpPr/>
          <p:nvPr/>
        </p:nvCxnSpPr>
        <p:spPr>
          <a:xfrm>
            <a:off x="6477000" y="1841500"/>
            <a:ext cx="0" cy="762000"/>
          </a:xfrm>
          <a:prstGeom prst="line">
            <a:avLst/>
          </a:prstGeom>
          <a:ln w="12700">
            <a:solidFill>
              <a:srgbClr val="2A3C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AFF25A7-5AC1-E6DB-6E6D-9E6E9370C16A}"/>
              </a:ext>
            </a:extLst>
          </p:cNvPr>
          <p:cNvSpPr txBox="1"/>
          <p:nvPr/>
        </p:nvSpPr>
        <p:spPr>
          <a:xfrm>
            <a:off x="635000" y="2997200"/>
            <a:ext cx="8128000" cy="57708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50">
                <a:solidFill>
                  <a:srgbClr val="D2D2D2"/>
                </a:solidFill>
                <a:latin typeface="Segoe UI" panose="020B0502040204020203" pitchFamily="34" charset="0"/>
              </a:rPr>
              <a:t>Developed under NATRiP, a Ministry of Heavy Industries programme, NATRAX at Pithampur is one of Asia's largest proving grounds - used by OEMs, Tier-1s and tyre makers for homologation, R&amp;D and vehicle-dynamics testing, 50 km from Indore.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4BCE9F2-A613-FDD1-4849-4C53AB4D680F}"/>
              </a:ext>
            </a:extLst>
          </p:cNvPr>
          <p:cNvSpPr/>
          <p:nvPr/>
        </p:nvSpPr>
        <p:spPr>
          <a:xfrm>
            <a:off x="635000" y="3937000"/>
            <a:ext cx="8128000" cy="711200"/>
          </a:xfrm>
          <a:prstGeom prst="rect">
            <a:avLst/>
          </a:prstGeom>
          <a:solidFill>
            <a:srgbClr val="152752"/>
          </a:solidFill>
          <a:ln w="12700">
            <a:solidFill>
              <a:srgbClr val="2A3C6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530BDEA-DC57-D2D9-18FF-E3E59543421E}"/>
              </a:ext>
            </a:extLst>
          </p:cNvPr>
          <p:cNvSpPr txBox="1"/>
          <p:nvPr/>
        </p:nvSpPr>
        <p:spPr>
          <a:xfrm>
            <a:off x="838200" y="4089400"/>
            <a:ext cx="774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F7BA2B"/>
                </a:solidFill>
                <a:latin typeface="Segoe UI" panose="020B0502040204020203" pitchFamily="34" charset="0"/>
              </a:rPr>
              <a:t>NATRAX's own building plan already includes a Client Workshop Building and a General Storage &amp; Maintenance Workshop - a dedicated SightLine bay follows the model the site is already built around.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4D91443-59E7-55D5-8269-632A74855E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4876800"/>
            <a:ext cx="1041400" cy="229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939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CEEE17-0239-FAC1-98B5-C7F14F40579B}"/>
              </a:ext>
            </a:extLst>
          </p:cNvPr>
          <p:cNvSpPr txBox="1"/>
          <p:nvPr/>
        </p:nvSpPr>
        <p:spPr>
          <a:xfrm>
            <a:off x="635000" y="558800"/>
            <a:ext cx="787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F7BA2B"/>
                </a:solidFill>
                <a:latin typeface="Segoe UI" panose="020B0502040204020203" pitchFamily="34" charset="0"/>
              </a:rPr>
              <a:t>THE ASK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B15B33-8EC9-6C69-6E5A-9F3170D5158E}"/>
              </a:ext>
            </a:extLst>
          </p:cNvPr>
          <p:cNvSpPr txBox="1"/>
          <p:nvPr/>
        </p:nvSpPr>
        <p:spPr>
          <a:xfrm>
            <a:off x="635000" y="939800"/>
            <a:ext cx="8128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FFFFFF"/>
                </a:solidFill>
                <a:latin typeface="Segoe UI" panose="020B0502040204020203" pitchFamily="34" charset="0"/>
              </a:rPr>
              <a:t>Allocate a dedicated garage at NATRAX, Indore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5F0201-6374-78ED-311D-39359CBE65B0}"/>
              </a:ext>
            </a:extLst>
          </p:cNvPr>
          <p:cNvSpPr txBox="1"/>
          <p:nvPr/>
        </p:nvSpPr>
        <p:spPr>
          <a:xfrm>
            <a:off x="635000" y="1778000"/>
            <a:ext cx="8001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D2D2D2"/>
                </a:solidFill>
                <a:latin typeface="Segoe UI" panose="020B0502040204020203" pitchFamily="34" charset="0"/>
              </a:rPr>
              <a:t>A dedicated space secures our assets, makes the operation permanent, seeds a future Indore instrumentation lab, and establishes Goodyear's presence at India's principal proving ground.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0DB22-4E69-8337-5200-8A4BC7CBD6DE}"/>
              </a:ext>
            </a:extLst>
          </p:cNvPr>
          <p:cNvCxnSpPr/>
          <p:nvPr/>
        </p:nvCxnSpPr>
        <p:spPr>
          <a:xfrm>
            <a:off x="635000" y="3810000"/>
            <a:ext cx="8128000" cy="0"/>
          </a:xfrm>
          <a:prstGeom prst="line">
            <a:avLst/>
          </a:prstGeom>
          <a:ln w="12700">
            <a:solidFill>
              <a:srgbClr val="2A3C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3C07B53-A1E9-5B19-960B-4BC4B63F940C}"/>
              </a:ext>
            </a:extLst>
          </p:cNvPr>
          <p:cNvSpPr txBox="1"/>
          <p:nvPr/>
        </p:nvSpPr>
        <p:spPr>
          <a:xfrm>
            <a:off x="635000" y="3987800"/>
            <a:ext cx="1905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 b="1">
                <a:solidFill>
                  <a:srgbClr val="F7BA2B"/>
                </a:solidFill>
                <a:latin typeface="Segoe UI" panose="020B0502040204020203" pitchFamily="34" charset="0"/>
              </a:rPr>
              <a:t>SITE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25385E-1D40-F210-F2DF-B26BE0196FC4}"/>
              </a:ext>
            </a:extLst>
          </p:cNvPr>
          <p:cNvSpPr txBox="1"/>
          <p:nvPr/>
        </p:nvSpPr>
        <p:spPr>
          <a:xfrm>
            <a:off x="635000" y="4241800"/>
            <a:ext cx="18796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50" b="1">
                <a:solidFill>
                  <a:srgbClr val="FFFFFF"/>
                </a:solidFill>
                <a:latin typeface="Segoe UI" panose="020B0502040204020203" pitchFamily="34" charset="0"/>
              </a:rPr>
              <a:t>NATRAX Proving Ground, Indore MP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453290-93B8-82B8-2FD6-562EDE31BB16}"/>
              </a:ext>
            </a:extLst>
          </p:cNvPr>
          <p:cNvSpPr txBox="1"/>
          <p:nvPr/>
        </p:nvSpPr>
        <p:spPr>
          <a:xfrm>
            <a:off x="2641600" y="3987800"/>
            <a:ext cx="1905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 b="1">
                <a:solidFill>
                  <a:srgbClr val="F7BA2B"/>
                </a:solidFill>
                <a:latin typeface="Segoe UI" panose="020B0502040204020203" pitchFamily="34" charset="0"/>
              </a:rPr>
              <a:t>PROGRAMME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E80043-6A34-0482-3DFF-325691E725D0}"/>
              </a:ext>
            </a:extLst>
          </p:cNvPr>
          <p:cNvSpPr txBox="1"/>
          <p:nvPr/>
        </p:nvSpPr>
        <p:spPr>
          <a:xfrm>
            <a:off x="2641600" y="4241800"/>
            <a:ext cx="18796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50" b="1">
                <a:solidFill>
                  <a:srgbClr val="FFFFFF"/>
                </a:solidFill>
                <a:latin typeface="Segoe UI" panose="020B0502040204020203" pitchFamily="34" charset="0"/>
              </a:rPr>
              <a:t>Goodyear SightLine - AQD / DFE validation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D1E3FA-3FA8-51BC-FB97-EDCAF20DEEA9}"/>
              </a:ext>
            </a:extLst>
          </p:cNvPr>
          <p:cNvSpPr txBox="1"/>
          <p:nvPr/>
        </p:nvSpPr>
        <p:spPr>
          <a:xfrm>
            <a:off x="4648200" y="3987800"/>
            <a:ext cx="1905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 b="1">
                <a:solidFill>
                  <a:srgbClr val="F7BA2B"/>
                </a:solidFill>
                <a:latin typeface="Segoe UI" panose="020B0502040204020203" pitchFamily="34" charset="0"/>
              </a:rPr>
              <a:t>PREPARED FOR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D43686-C65D-F075-8BC2-B3F02F08AD72}"/>
              </a:ext>
            </a:extLst>
          </p:cNvPr>
          <p:cNvSpPr txBox="1"/>
          <p:nvPr/>
        </p:nvSpPr>
        <p:spPr>
          <a:xfrm>
            <a:off x="4648200" y="4241800"/>
            <a:ext cx="18796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50" b="1">
                <a:solidFill>
                  <a:srgbClr val="FFFFFF"/>
                </a:solidFill>
                <a:latin typeface="Segoe UI" panose="020B0502040204020203" pitchFamily="34" charset="0"/>
              </a:rPr>
              <a:t>Management review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38225C-ADEA-1C9F-2CD4-D0858B76ADED}"/>
              </a:ext>
            </a:extLst>
          </p:cNvPr>
          <p:cNvSpPr txBox="1"/>
          <p:nvPr/>
        </p:nvSpPr>
        <p:spPr>
          <a:xfrm>
            <a:off x="6654800" y="3987800"/>
            <a:ext cx="1905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 b="1">
                <a:solidFill>
                  <a:srgbClr val="F7BA2B"/>
                </a:solidFill>
                <a:latin typeface="Segoe UI" panose="020B0502040204020203" pitchFamily="34" charset="0"/>
              </a:rPr>
              <a:t>DATE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62A8DC-6F32-F106-F73D-5B7141DF330D}"/>
              </a:ext>
            </a:extLst>
          </p:cNvPr>
          <p:cNvSpPr txBox="1"/>
          <p:nvPr/>
        </p:nvSpPr>
        <p:spPr>
          <a:xfrm>
            <a:off x="6654800" y="4241800"/>
            <a:ext cx="18796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50" b="1">
                <a:solidFill>
                  <a:srgbClr val="FFFFFF"/>
                </a:solidFill>
                <a:latin typeface="Segoe UI" panose="020B0502040204020203" pitchFamily="34" charset="0"/>
              </a:rPr>
              <a:t>August 2026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AF6B595-1D23-AE6C-352F-6FAD35B76F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4876800"/>
            <a:ext cx="1041400" cy="229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5716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18C293-7490-FC83-A31C-9F1776C6AA36}"/>
              </a:ext>
            </a:extLst>
          </p:cNvPr>
          <p:cNvSpPr txBox="1"/>
          <p:nvPr/>
        </p:nvSpPr>
        <p:spPr>
          <a:xfrm>
            <a:off x="635000" y="558800"/>
            <a:ext cx="787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F7BA2B"/>
                </a:solidFill>
                <a:latin typeface="Segoe UI" panose="020B0502040204020203" pitchFamily="34" charset="0"/>
              </a:rPr>
              <a:t>WHERE WE ARE TODAY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3D9F7B-FB23-D2AA-64CA-CC219D99B22F}"/>
              </a:ext>
            </a:extLst>
          </p:cNvPr>
          <p:cNvSpPr txBox="1"/>
          <p:nvPr/>
        </p:nvSpPr>
        <p:spPr>
          <a:xfrm>
            <a:off x="635000" y="939800"/>
            <a:ext cx="8128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600" b="1">
                <a:solidFill>
                  <a:srgbClr val="FFFFFF"/>
                </a:solidFill>
                <a:latin typeface="Segoe UI" panose="020B0502040204020203" pitchFamily="34" charset="0"/>
              </a:rPr>
              <a:t>No secure space for tires or instruments today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C18DDC-7729-DE0A-66EF-5D6CD1D1CF04}"/>
              </a:ext>
            </a:extLst>
          </p:cNvPr>
          <p:cNvSpPr txBox="1"/>
          <p:nvPr/>
        </p:nvSpPr>
        <p:spPr>
          <a:xfrm>
            <a:off x="635000" y="1803400"/>
            <a:ext cx="7620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F7BA2B"/>
                </a:solidFill>
                <a:latin typeface="Segoe UI" panose="020B0502040204020203" pitchFamily="34" charset="0"/>
              </a:rPr>
              <a:t>Shared container.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1027C9-325B-2A3D-4D4D-5B2B7BA54B1F}"/>
              </a:ext>
            </a:extLst>
          </p:cNvPr>
          <p:cNvSpPr txBox="1"/>
          <p:nvPr/>
        </p:nvSpPr>
        <p:spPr>
          <a:xfrm>
            <a:off x="635000" y="2082800"/>
            <a:ext cx="762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D2D2D2"/>
                </a:solidFill>
                <a:latin typeface="Segoe UI" panose="020B0502040204020203" pitchFamily="34" charset="0"/>
              </a:rPr>
              <a:t>No dedicated, lockable footprint of our own.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0F26D0-D00A-8634-9CE4-0D6C74AEB6EA}"/>
              </a:ext>
            </a:extLst>
          </p:cNvPr>
          <p:cNvSpPr txBox="1"/>
          <p:nvPr/>
        </p:nvSpPr>
        <p:spPr>
          <a:xfrm>
            <a:off x="635000" y="2590800"/>
            <a:ext cx="7620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F7BA2B"/>
                </a:solidFill>
                <a:latin typeface="Segoe UI" panose="020B0502040204020203" pitchFamily="34" charset="0"/>
              </a:rPr>
              <a:t>High-value instrumentation on site.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875468-F901-6C7B-2354-D0214D79926A}"/>
              </a:ext>
            </a:extLst>
          </p:cNvPr>
          <p:cNvSpPr txBox="1"/>
          <p:nvPr/>
        </p:nvSpPr>
        <p:spPr>
          <a:xfrm>
            <a:off x="635000" y="2870200"/>
            <a:ext cx="762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D2D2D2"/>
                </a:solidFill>
                <a:latin typeface="Segoe UI" panose="020B0502040204020203" pitchFamily="34" charset="0"/>
              </a:rPr>
              <a:t>VBOX 3i, GL2000 logger, Raptor CAL, CANoe / CANape, IMU, TPMS - plus confidential prototype tires.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849C99-8F4D-CEAC-68DE-DBDC1E56D58E}"/>
              </a:ext>
            </a:extLst>
          </p:cNvPr>
          <p:cNvSpPr txBox="1"/>
          <p:nvPr/>
        </p:nvSpPr>
        <p:spPr>
          <a:xfrm>
            <a:off x="635000" y="3378200"/>
            <a:ext cx="7620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F7BA2B"/>
                </a:solidFill>
                <a:latin typeface="Segoe UI" panose="020B0502040204020203" pitchFamily="34" charset="0"/>
              </a:rPr>
              <a:t>No secure storage.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ABAEDC-A09F-449C-3519-084798DCA1F8}"/>
              </a:ext>
            </a:extLst>
          </p:cNvPr>
          <p:cNvSpPr txBox="1"/>
          <p:nvPr/>
        </p:nvSpPr>
        <p:spPr>
          <a:xfrm>
            <a:off x="635000" y="3657600"/>
            <a:ext cx="762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D2D2D2"/>
                </a:solidFill>
                <a:latin typeface="Segoe UI" panose="020B0502040204020203" pitchFamily="34" charset="0"/>
              </a:rPr>
              <a:t>For tires or instruments between test campaigns.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02A38B-5A66-CBFD-7842-6EAF97ABBD33}"/>
              </a:ext>
            </a:extLst>
          </p:cNvPr>
          <p:cNvSpPr txBox="1"/>
          <p:nvPr/>
        </p:nvSpPr>
        <p:spPr>
          <a:xfrm>
            <a:off x="635000" y="4165600"/>
            <a:ext cx="7620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F7BA2B"/>
                </a:solidFill>
                <a:latin typeface="Segoe UI" panose="020B0502040204020203" pitchFamily="34" charset="0"/>
              </a:rPr>
              <a:t>Shared ground.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506B20-F4B9-529F-A7F3-6CCFC8F6FC49}"/>
              </a:ext>
            </a:extLst>
          </p:cNvPr>
          <p:cNvSpPr txBox="1"/>
          <p:nvPr/>
        </p:nvSpPr>
        <p:spPr>
          <a:xfrm>
            <a:off x="635000" y="4445000"/>
            <a:ext cx="762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D2D2D2"/>
                </a:solidFill>
                <a:latin typeface="Segoe UI" panose="020B0502040204020203" pitchFamily="34" charset="0"/>
              </a:rPr>
              <a:t>Competitors, including Michelin, test at the same facility - a real confidentiality and IP risk.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21193B2-FA6B-2C00-AC9C-A9843877C5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4876800"/>
            <a:ext cx="1041400" cy="229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4398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E30BE8-A26B-6790-437D-CFE46F23621E}"/>
              </a:ext>
            </a:extLst>
          </p:cNvPr>
          <p:cNvSpPr txBox="1"/>
          <p:nvPr/>
        </p:nvSpPr>
        <p:spPr>
          <a:xfrm>
            <a:off x="635000" y="558800"/>
            <a:ext cx="787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F7BA2B"/>
                </a:solidFill>
                <a:latin typeface="Segoe UI" panose="020B0502040204020203" pitchFamily="34" charset="0"/>
              </a:rPr>
              <a:t>VEHICLE CUSTODY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9C650F-C868-FE7E-B555-D0A72E1D8C19}"/>
              </a:ext>
            </a:extLst>
          </p:cNvPr>
          <p:cNvSpPr txBox="1"/>
          <p:nvPr/>
        </p:nvSpPr>
        <p:spPr>
          <a:xfrm>
            <a:off x="635000" y="1397000"/>
            <a:ext cx="8128000" cy="124649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700" b="1">
                <a:solidFill>
                  <a:srgbClr val="FFFFFF"/>
                </a:solidFill>
                <a:latin typeface="Segoe UI" panose="020B0502040204020203" pitchFamily="34" charset="0"/>
              </a:rPr>
              <a:t>Once an OEM hands over a test vehicle, its safety and security become Goodyear's responsibility - not NATRAX's, not the OEM's.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B8B1CC-13F9-4F64-FA61-EB745ECF02A3}"/>
              </a:ext>
            </a:extLst>
          </p:cNvPr>
          <p:cNvCxnSpPr/>
          <p:nvPr/>
        </p:nvCxnSpPr>
        <p:spPr>
          <a:xfrm>
            <a:off x="635000" y="3810000"/>
            <a:ext cx="8128000" cy="0"/>
          </a:xfrm>
          <a:prstGeom prst="line">
            <a:avLst/>
          </a:prstGeom>
          <a:ln w="12700">
            <a:solidFill>
              <a:srgbClr val="2A3C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6FC24F8-E785-8995-A9CF-0404E09D4338}"/>
              </a:ext>
            </a:extLst>
          </p:cNvPr>
          <p:cNvSpPr txBox="1"/>
          <p:nvPr/>
        </p:nvSpPr>
        <p:spPr>
          <a:xfrm>
            <a:off x="635000" y="3987800"/>
            <a:ext cx="24765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F7BA2B"/>
                </a:solidFill>
                <a:latin typeface="Segoe UI" panose="020B0502040204020203" pitchFamily="34" charset="0"/>
              </a:rPr>
              <a:t>No covered parking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510024-92B4-5A88-6794-4D6817FD8F29}"/>
              </a:ext>
            </a:extLst>
          </p:cNvPr>
          <p:cNvSpPr txBox="1"/>
          <p:nvPr/>
        </p:nvSpPr>
        <p:spPr>
          <a:xfrm>
            <a:off x="635000" y="4267200"/>
            <a:ext cx="24765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D2D2D2"/>
                </a:solidFill>
                <a:latin typeface="Segoe UI" panose="020B0502040204020203" pitchFamily="34" charset="0"/>
              </a:rPr>
              <a:t>Vehicles sit on open pavement through sun, dust and monsoon rain.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7453A5-4179-6D20-CDB5-9394CC048321}"/>
              </a:ext>
            </a:extLst>
          </p:cNvPr>
          <p:cNvSpPr txBox="1"/>
          <p:nvPr/>
        </p:nvSpPr>
        <p:spPr>
          <a:xfrm>
            <a:off x="3327400" y="3987800"/>
            <a:ext cx="24765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F7BA2B"/>
                </a:solidFill>
                <a:latin typeface="Segoe UI" panose="020B0502040204020203" pitchFamily="34" charset="0"/>
              </a:rPr>
              <a:t>No access control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973C7E-FEE3-550C-6C64-ABC7A78029A4}"/>
              </a:ext>
            </a:extLst>
          </p:cNvPr>
          <p:cNvSpPr txBox="1"/>
          <p:nvPr/>
        </p:nvSpPr>
        <p:spPr>
          <a:xfrm>
            <a:off x="3327400" y="4267200"/>
            <a:ext cx="24765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D2D2D2"/>
                </a:solidFill>
                <a:latin typeface="Segoe UI" panose="020B0502040204020203" pitchFamily="34" charset="0"/>
              </a:rPr>
              <a:t>Parked beside a shared, unlocked container on a shared testing ground.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76019D-C179-1802-6D50-2123D8C2767C}"/>
              </a:ext>
            </a:extLst>
          </p:cNvPr>
          <p:cNvSpPr txBox="1"/>
          <p:nvPr/>
        </p:nvSpPr>
        <p:spPr>
          <a:xfrm>
            <a:off x="6019800" y="3987800"/>
            <a:ext cx="24765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F7BA2B"/>
                </a:solidFill>
                <a:latin typeface="Segoe UI" panose="020B0502040204020203" pitchFamily="34" charset="0"/>
              </a:rPr>
              <a:t>Full liability exposure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973151-1AA0-9489-20AB-5CF24758C74E}"/>
              </a:ext>
            </a:extLst>
          </p:cNvPr>
          <p:cNvSpPr txBox="1"/>
          <p:nvPr/>
        </p:nvSpPr>
        <p:spPr>
          <a:xfrm>
            <a:off x="6019800" y="4267200"/>
            <a:ext cx="24765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D2D2D2"/>
                </a:solidFill>
                <a:latin typeface="Segoe UI" panose="020B0502040204020203" pitchFamily="34" charset="0"/>
              </a:rPr>
              <a:t>Any damage, loss or exposure in our custody is ours to answer for.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8951BAF-45D1-510C-D34F-86DD0037A9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4876800"/>
            <a:ext cx="1041400" cy="229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091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5CBDD8-51C1-A84E-C59E-BBB92A2D6080}"/>
              </a:ext>
            </a:extLst>
          </p:cNvPr>
          <p:cNvSpPr txBox="1"/>
          <p:nvPr/>
        </p:nvSpPr>
        <p:spPr>
          <a:xfrm>
            <a:off x="635000" y="558800"/>
            <a:ext cx="787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F7BA2B"/>
                </a:solidFill>
                <a:latin typeface="Segoe UI" panose="020B0502040204020203" pitchFamily="34" charset="0"/>
              </a:rPr>
              <a:t>STORAGE &amp; LOGISTICS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A2EBB0-7544-0778-B67C-5ADEA90B7F4B}"/>
              </a:ext>
            </a:extLst>
          </p:cNvPr>
          <p:cNvSpPr txBox="1"/>
          <p:nvPr/>
        </p:nvSpPr>
        <p:spPr>
          <a:xfrm>
            <a:off x="635000" y="939800"/>
            <a:ext cx="812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Segoe UI" panose="020B0502040204020203" pitchFamily="34" charset="0"/>
              </a:rPr>
              <a:t>Tires and instruments need a real warehouse flow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723738-DF86-013E-4A19-8BF60BEB8F03}"/>
              </a:ext>
            </a:extLst>
          </p:cNvPr>
          <p:cNvSpPr txBox="1"/>
          <p:nvPr/>
        </p:nvSpPr>
        <p:spPr>
          <a:xfrm>
            <a:off x="635000" y="1498600"/>
            <a:ext cx="8128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50">
                <a:solidFill>
                  <a:srgbClr val="D2D2D2"/>
                </a:solidFill>
                <a:latin typeface="Segoe UI" panose="020B0502040204020203" pitchFamily="34" charset="0"/>
              </a:rPr>
              <a:t>Every campaign moves prototype tires and calibrated instruments in and out of NATRAX. Without a fixed base, that flow has no secure stage to run through.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8D08A1-D990-C8E2-E18C-1149417ED262}"/>
              </a:ext>
            </a:extLst>
          </p:cNvPr>
          <p:cNvSpPr/>
          <p:nvPr/>
        </p:nvSpPr>
        <p:spPr>
          <a:xfrm>
            <a:off x="635000" y="2362200"/>
            <a:ext cx="1879600" cy="1905000"/>
          </a:xfrm>
          <a:prstGeom prst="rect">
            <a:avLst/>
          </a:prstGeom>
          <a:solidFill>
            <a:srgbClr val="152752"/>
          </a:solidFill>
          <a:ln w="12700">
            <a:solidFill>
              <a:srgbClr val="2A3C6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4735BA-0097-DF70-2CE0-D0D92DB25F84}"/>
              </a:ext>
            </a:extLst>
          </p:cNvPr>
          <p:cNvSpPr txBox="1"/>
          <p:nvPr/>
        </p:nvSpPr>
        <p:spPr>
          <a:xfrm>
            <a:off x="812800" y="2540000"/>
            <a:ext cx="1524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 b="1">
                <a:solidFill>
                  <a:srgbClr val="F7BA2B"/>
                </a:solidFill>
                <a:latin typeface="Segoe UI" panose="020B0502040204020203" pitchFamily="34" charset="0"/>
              </a:rPr>
              <a:t>01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7ECD12-E1DE-523F-47BA-AC39F424D53B}"/>
              </a:ext>
            </a:extLst>
          </p:cNvPr>
          <p:cNvSpPr txBox="1"/>
          <p:nvPr/>
        </p:nvSpPr>
        <p:spPr>
          <a:xfrm>
            <a:off x="812800" y="2946400"/>
            <a:ext cx="15240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50" b="1">
                <a:solidFill>
                  <a:srgbClr val="FFFFFF"/>
                </a:solidFill>
                <a:latin typeface="Segoe UI" panose="020B0502040204020203" pitchFamily="34" charset="0"/>
              </a:rPr>
              <a:t>Inbound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C842AF-14B7-1CA5-3E5C-A4CFEF773648}"/>
              </a:ext>
            </a:extLst>
          </p:cNvPr>
          <p:cNvSpPr txBox="1"/>
          <p:nvPr/>
        </p:nvSpPr>
        <p:spPr>
          <a:xfrm>
            <a:off x="812800" y="3225800"/>
            <a:ext cx="1524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D2D2D2"/>
                </a:solidFill>
                <a:latin typeface="Segoe UI" panose="020B0502040204020203" pitchFamily="34" charset="0"/>
              </a:rPr>
              <a:t>Prototype tires and instruments arrive from plant, R&amp;D or calibration.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1AAA73-02B7-55DA-88BF-904D2FC02484}"/>
              </a:ext>
            </a:extLst>
          </p:cNvPr>
          <p:cNvSpPr txBox="1"/>
          <p:nvPr/>
        </p:nvSpPr>
        <p:spPr>
          <a:xfrm>
            <a:off x="2540000" y="3048000"/>
            <a:ext cx="152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600" b="1">
                <a:solidFill>
                  <a:srgbClr val="F7BA2B"/>
                </a:solidFill>
                <a:latin typeface="Segoe UI" panose="020B0502040204020203" pitchFamily="34" charset="0"/>
              </a:rPr>
              <a:t>&gt;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B35A7E6-4547-A4E6-78F3-E1EDEFDC4371}"/>
              </a:ext>
            </a:extLst>
          </p:cNvPr>
          <p:cNvSpPr/>
          <p:nvPr/>
        </p:nvSpPr>
        <p:spPr>
          <a:xfrm>
            <a:off x="2692400" y="2362200"/>
            <a:ext cx="1879600" cy="1905000"/>
          </a:xfrm>
          <a:prstGeom prst="rect">
            <a:avLst/>
          </a:prstGeom>
          <a:solidFill>
            <a:srgbClr val="152752"/>
          </a:solidFill>
          <a:ln w="12700">
            <a:solidFill>
              <a:srgbClr val="2A3C6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AA3BD2-DBC3-7AFC-227C-751EC86FB9FF}"/>
              </a:ext>
            </a:extLst>
          </p:cNvPr>
          <p:cNvSpPr txBox="1"/>
          <p:nvPr/>
        </p:nvSpPr>
        <p:spPr>
          <a:xfrm>
            <a:off x="2870200" y="2540000"/>
            <a:ext cx="1524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 b="1">
                <a:solidFill>
                  <a:srgbClr val="F7BA2B"/>
                </a:solidFill>
                <a:latin typeface="Segoe UI" panose="020B0502040204020203" pitchFamily="34" charset="0"/>
              </a:rPr>
              <a:t>02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B0A4C3-FAB7-B914-6424-2494F06F8CA5}"/>
              </a:ext>
            </a:extLst>
          </p:cNvPr>
          <p:cNvSpPr txBox="1"/>
          <p:nvPr/>
        </p:nvSpPr>
        <p:spPr>
          <a:xfrm>
            <a:off x="2870200" y="2946400"/>
            <a:ext cx="15240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50" b="1">
                <a:solidFill>
                  <a:srgbClr val="FFFFFF"/>
                </a:solidFill>
                <a:latin typeface="Segoe UI" panose="020B0502040204020203" pitchFamily="34" charset="0"/>
              </a:rPr>
              <a:t>Secure store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641386-175C-CBEB-CEBD-EA2A84CACC6A}"/>
              </a:ext>
            </a:extLst>
          </p:cNvPr>
          <p:cNvSpPr txBox="1"/>
          <p:nvPr/>
        </p:nvSpPr>
        <p:spPr>
          <a:xfrm>
            <a:off x="2870200" y="3225800"/>
            <a:ext cx="1524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D2D2D2"/>
                </a:solidFill>
                <a:latin typeface="Segoe UI" panose="020B0502040204020203" pitchFamily="34" charset="0"/>
              </a:rPr>
              <a:t>Racked and logged in a lockable bay, out of competitors' sight.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82AB23-ECFA-399D-838D-503FE23BA7C2}"/>
              </a:ext>
            </a:extLst>
          </p:cNvPr>
          <p:cNvSpPr txBox="1"/>
          <p:nvPr/>
        </p:nvSpPr>
        <p:spPr>
          <a:xfrm>
            <a:off x="4597400" y="3048000"/>
            <a:ext cx="152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600" b="1">
                <a:solidFill>
                  <a:srgbClr val="F7BA2B"/>
                </a:solidFill>
                <a:latin typeface="Segoe UI" panose="020B0502040204020203" pitchFamily="34" charset="0"/>
              </a:rPr>
              <a:t>&gt;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0C3553D-FF31-25A4-796F-4A7EDA748C50}"/>
              </a:ext>
            </a:extLst>
          </p:cNvPr>
          <p:cNvSpPr/>
          <p:nvPr/>
        </p:nvSpPr>
        <p:spPr>
          <a:xfrm>
            <a:off x="4749800" y="2362200"/>
            <a:ext cx="1879600" cy="1905000"/>
          </a:xfrm>
          <a:prstGeom prst="rect">
            <a:avLst/>
          </a:prstGeom>
          <a:solidFill>
            <a:srgbClr val="152752"/>
          </a:solidFill>
          <a:ln w="12700">
            <a:solidFill>
              <a:srgbClr val="2A3C6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F2BB81-B5B9-5B18-22B2-EC7D6EE3FA40}"/>
              </a:ext>
            </a:extLst>
          </p:cNvPr>
          <p:cNvSpPr txBox="1"/>
          <p:nvPr/>
        </p:nvSpPr>
        <p:spPr>
          <a:xfrm>
            <a:off x="4927600" y="2540000"/>
            <a:ext cx="1524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 b="1">
                <a:solidFill>
                  <a:srgbClr val="F7BA2B"/>
                </a:solidFill>
                <a:latin typeface="Segoe UI" panose="020B0502040204020203" pitchFamily="34" charset="0"/>
              </a:rPr>
              <a:t>03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2A726B-3350-2664-C940-3C91978E817B}"/>
              </a:ext>
            </a:extLst>
          </p:cNvPr>
          <p:cNvSpPr txBox="1"/>
          <p:nvPr/>
        </p:nvSpPr>
        <p:spPr>
          <a:xfrm>
            <a:off x="4927600" y="2946400"/>
            <a:ext cx="15240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50" b="1">
                <a:solidFill>
                  <a:srgbClr val="FFFFFF"/>
                </a:solidFill>
                <a:latin typeface="Segoe UI" panose="020B0502040204020203" pitchFamily="34" charset="0"/>
              </a:rPr>
              <a:t>Issued for test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2C2456F-0F17-72AE-39BD-988F931FD226}"/>
              </a:ext>
            </a:extLst>
          </p:cNvPr>
          <p:cNvSpPr txBox="1"/>
          <p:nvPr/>
        </p:nvSpPr>
        <p:spPr>
          <a:xfrm>
            <a:off x="4927600" y="3225800"/>
            <a:ext cx="1524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D2D2D2"/>
                </a:solidFill>
                <a:latin typeface="Segoe UI" panose="020B0502040204020203" pitchFamily="34" charset="0"/>
              </a:rPr>
              <a:t>Checked out against a campaign, fitted and mounted on-site.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1E1067F-1911-D6A4-42F1-38BDF8DCF944}"/>
              </a:ext>
            </a:extLst>
          </p:cNvPr>
          <p:cNvSpPr txBox="1"/>
          <p:nvPr/>
        </p:nvSpPr>
        <p:spPr>
          <a:xfrm>
            <a:off x="6654800" y="3048000"/>
            <a:ext cx="152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600" b="1">
                <a:solidFill>
                  <a:srgbClr val="F7BA2B"/>
                </a:solidFill>
                <a:latin typeface="Segoe UI" panose="020B0502040204020203" pitchFamily="34" charset="0"/>
              </a:rPr>
              <a:t>&gt;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DBF5148-15AA-A18D-95AE-1E3F7E2D6B1D}"/>
              </a:ext>
            </a:extLst>
          </p:cNvPr>
          <p:cNvSpPr/>
          <p:nvPr/>
        </p:nvSpPr>
        <p:spPr>
          <a:xfrm>
            <a:off x="6807200" y="2362200"/>
            <a:ext cx="1879600" cy="1905000"/>
          </a:xfrm>
          <a:prstGeom prst="rect">
            <a:avLst/>
          </a:prstGeom>
          <a:solidFill>
            <a:srgbClr val="152752"/>
          </a:solidFill>
          <a:ln w="12700">
            <a:solidFill>
              <a:srgbClr val="2A3C6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61455F3-82A9-12B5-9ABF-E8CE21EF2ED0}"/>
              </a:ext>
            </a:extLst>
          </p:cNvPr>
          <p:cNvSpPr txBox="1"/>
          <p:nvPr/>
        </p:nvSpPr>
        <p:spPr>
          <a:xfrm>
            <a:off x="6985000" y="2540000"/>
            <a:ext cx="1524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 b="1">
                <a:solidFill>
                  <a:srgbClr val="F7BA2B"/>
                </a:solidFill>
                <a:latin typeface="Segoe UI" panose="020B0502040204020203" pitchFamily="34" charset="0"/>
              </a:rPr>
              <a:t>04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44FD716-B22F-AF81-9D68-F056F9F3630F}"/>
              </a:ext>
            </a:extLst>
          </p:cNvPr>
          <p:cNvSpPr txBox="1"/>
          <p:nvPr/>
        </p:nvSpPr>
        <p:spPr>
          <a:xfrm>
            <a:off x="6985000" y="2946400"/>
            <a:ext cx="15240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50" b="1">
                <a:solidFill>
                  <a:srgbClr val="FFFFFF"/>
                </a:solidFill>
                <a:latin typeface="Segoe UI" panose="020B0502040204020203" pitchFamily="34" charset="0"/>
              </a:rPr>
              <a:t>Logged return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8C2C81C-185E-460C-46F3-C10CCFE37F76}"/>
              </a:ext>
            </a:extLst>
          </p:cNvPr>
          <p:cNvSpPr txBox="1"/>
          <p:nvPr/>
        </p:nvSpPr>
        <p:spPr>
          <a:xfrm>
            <a:off x="6985000" y="3225800"/>
            <a:ext cx="1524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D2D2D2"/>
                </a:solidFill>
                <a:latin typeface="Segoe UI" panose="020B0502040204020203" pitchFamily="34" charset="0"/>
              </a:rPr>
              <a:t>Checked back in, inspected, held for the next campaign or dispatch.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B431A83F-304F-512B-5690-3BE9130250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4876800"/>
            <a:ext cx="1041400" cy="229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452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E49EC64-820D-8BC4-7FA3-7E392E036B0E}"/>
              </a:ext>
            </a:extLst>
          </p:cNvPr>
          <p:cNvSpPr txBox="1"/>
          <p:nvPr/>
        </p:nvSpPr>
        <p:spPr>
          <a:xfrm>
            <a:off x="635000" y="558800"/>
            <a:ext cx="787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F7BA2B"/>
                </a:solidFill>
                <a:latin typeface="Segoe UI" panose="020B0502040204020203" pitchFamily="34" charset="0"/>
              </a:rPr>
              <a:t>WHY A DEDICATED GARAGE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439D3F-B367-A82E-0C79-F7DE10740E8D}"/>
              </a:ext>
            </a:extLst>
          </p:cNvPr>
          <p:cNvSpPr txBox="1"/>
          <p:nvPr/>
        </p:nvSpPr>
        <p:spPr>
          <a:xfrm>
            <a:off x="635000" y="939800"/>
            <a:ext cx="8128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600" b="1">
                <a:solidFill>
                  <a:srgbClr val="FFFFFF"/>
                </a:solidFill>
                <a:latin typeface="Segoe UI" panose="020B0502040204020203" pitchFamily="34" charset="0"/>
              </a:rPr>
              <a:t>Five reasons for a dedicated footprint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E2A35E-3E6E-C5C8-C7F3-69593A38A7D9}"/>
              </a:ext>
            </a:extLst>
          </p:cNvPr>
          <p:cNvSpPr txBox="1"/>
          <p:nvPr/>
        </p:nvSpPr>
        <p:spPr>
          <a:xfrm>
            <a:off x="635000" y="1676400"/>
            <a:ext cx="762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 b="1">
                <a:solidFill>
                  <a:srgbClr val="F7BA2B"/>
                </a:solidFill>
                <a:latin typeface="Segoe UI" panose="020B0502040204020203" pitchFamily="34" charset="0"/>
              </a:rPr>
              <a:t>01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0DF1CB-797B-BD72-F968-27CF1E2BE72E}"/>
              </a:ext>
            </a:extLst>
          </p:cNvPr>
          <p:cNvSpPr txBox="1"/>
          <p:nvPr/>
        </p:nvSpPr>
        <p:spPr>
          <a:xfrm>
            <a:off x="635000" y="2057400"/>
            <a:ext cx="25146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FFFFFF"/>
                </a:solidFill>
                <a:latin typeface="Segoe UI" panose="020B0502040204020203" pitchFamily="34" charset="0"/>
              </a:rPr>
              <a:t>Asset security &amp; IP protection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8E7A49-BEEE-AB6D-AA3C-7E8509AF9DDB}"/>
              </a:ext>
            </a:extLst>
          </p:cNvPr>
          <p:cNvSpPr txBox="1"/>
          <p:nvPr/>
        </p:nvSpPr>
        <p:spPr>
          <a:xfrm>
            <a:off x="635000" y="2514600"/>
            <a:ext cx="2514600" cy="61555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D2D2D2"/>
                </a:solidFill>
                <a:latin typeface="Segoe UI" panose="020B0502040204020203" pitchFamily="34" charset="0"/>
              </a:rPr>
              <a:t>Lockable, dedicated storage for costly instruments and confidential prototype tires, separated from competitors on the same ground.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2DCFFC-C6BB-0064-595A-50C422F65C16}"/>
              </a:ext>
            </a:extLst>
          </p:cNvPr>
          <p:cNvSpPr txBox="1"/>
          <p:nvPr/>
        </p:nvSpPr>
        <p:spPr>
          <a:xfrm>
            <a:off x="3327400" y="1676400"/>
            <a:ext cx="762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 b="1">
                <a:solidFill>
                  <a:srgbClr val="F7BA2B"/>
                </a:solidFill>
                <a:latin typeface="Segoe UI" panose="020B0502040204020203" pitchFamily="34" charset="0"/>
              </a:rPr>
              <a:t>02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80C959-0A43-2E20-F4E9-AEC5210C0125}"/>
              </a:ext>
            </a:extLst>
          </p:cNvPr>
          <p:cNvSpPr txBox="1"/>
          <p:nvPr/>
        </p:nvSpPr>
        <p:spPr>
          <a:xfrm>
            <a:off x="3327400" y="2057400"/>
            <a:ext cx="25146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FFFFFF"/>
                </a:solidFill>
                <a:latin typeface="Segoe UI" panose="020B0502040204020203" pitchFamily="34" charset="0"/>
              </a:rPr>
              <a:t>A permanent, ready operation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23FEB1-2F1C-BED9-FAA1-4798AF76C524}"/>
              </a:ext>
            </a:extLst>
          </p:cNvPr>
          <p:cNvSpPr txBox="1"/>
          <p:nvPr/>
        </p:nvSpPr>
        <p:spPr>
          <a:xfrm>
            <a:off x="3327400" y="2514600"/>
            <a:ext cx="25146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D2D2D2"/>
                </a:solidFill>
                <a:latin typeface="Segoe UI" panose="020B0502040204020203" pitchFamily="34" charset="0"/>
              </a:rPr>
              <a:t>Instrumentation stays calibrated and set up between campaigns - faster turnaround, more usable test days.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AB5D93-E980-6F59-270E-39E7F95A0AA9}"/>
              </a:ext>
            </a:extLst>
          </p:cNvPr>
          <p:cNvSpPr txBox="1"/>
          <p:nvPr/>
        </p:nvSpPr>
        <p:spPr>
          <a:xfrm>
            <a:off x="6019800" y="1676400"/>
            <a:ext cx="762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 b="1">
                <a:solidFill>
                  <a:srgbClr val="F7BA2B"/>
                </a:solidFill>
                <a:latin typeface="Segoe UI" panose="020B0502040204020203" pitchFamily="34" charset="0"/>
              </a:rPr>
              <a:t>03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D390E1-4D0F-599B-6669-09EA06A0193A}"/>
              </a:ext>
            </a:extLst>
          </p:cNvPr>
          <p:cNvSpPr txBox="1"/>
          <p:nvPr/>
        </p:nvSpPr>
        <p:spPr>
          <a:xfrm>
            <a:off x="6019800" y="2057400"/>
            <a:ext cx="25146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FFFFFF"/>
                </a:solidFill>
                <a:latin typeface="Segoe UI" panose="020B0502040204020203" pitchFamily="34" charset="0"/>
              </a:rPr>
              <a:t>Foundation for an Indore lab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BB374F-0190-4E5A-B496-EBFEC2940EF1}"/>
              </a:ext>
            </a:extLst>
          </p:cNvPr>
          <p:cNvSpPr txBox="1"/>
          <p:nvPr/>
        </p:nvSpPr>
        <p:spPr>
          <a:xfrm>
            <a:off x="6019800" y="2514600"/>
            <a:ext cx="25146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D2D2D2"/>
                </a:solidFill>
                <a:latin typeface="Segoe UI" panose="020B0502040204020203" pitchFamily="34" charset="0"/>
              </a:rPr>
              <a:t>A fixed base is the first step toward a small in-house instrumentation lab for data and build-up work.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372BEE-8BAD-68C7-686F-85479EA257CB}"/>
              </a:ext>
            </a:extLst>
          </p:cNvPr>
          <p:cNvSpPr txBox="1"/>
          <p:nvPr/>
        </p:nvSpPr>
        <p:spPr>
          <a:xfrm>
            <a:off x="635000" y="3327400"/>
            <a:ext cx="762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 b="1">
                <a:solidFill>
                  <a:srgbClr val="F7BA2B"/>
                </a:solidFill>
                <a:latin typeface="Segoe UI" panose="020B0502040204020203" pitchFamily="34" charset="0"/>
              </a:rPr>
              <a:t>04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EA95743-69E4-7BB7-5BAD-4CD09E7E16CF}"/>
              </a:ext>
            </a:extLst>
          </p:cNvPr>
          <p:cNvSpPr txBox="1"/>
          <p:nvPr/>
        </p:nvSpPr>
        <p:spPr>
          <a:xfrm>
            <a:off x="635000" y="3708400"/>
            <a:ext cx="25146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FFFFFF"/>
                </a:solidFill>
                <a:latin typeface="Segoe UI" panose="020B0502040204020203" pitchFamily="34" charset="0"/>
              </a:rPr>
              <a:t>Central-India logistics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E50358-B984-A207-D75B-60A44B4D2AA4}"/>
              </a:ext>
            </a:extLst>
          </p:cNvPr>
          <p:cNvSpPr txBox="1"/>
          <p:nvPr/>
        </p:nvSpPr>
        <p:spPr>
          <a:xfrm>
            <a:off x="635000" y="4165600"/>
            <a:ext cx="25146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D2D2D2"/>
                </a:solidFill>
                <a:latin typeface="Segoe UI" panose="020B0502040204020203" pitchFamily="34" charset="0"/>
              </a:rPr>
              <a:t>Indore sits at India's geographic centre - faster, cheaper transport of vehicles, tires and equipment.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488F42-B816-E7DB-AA21-25A12C151E3D}"/>
              </a:ext>
            </a:extLst>
          </p:cNvPr>
          <p:cNvSpPr txBox="1"/>
          <p:nvPr/>
        </p:nvSpPr>
        <p:spPr>
          <a:xfrm>
            <a:off x="3327400" y="3327400"/>
            <a:ext cx="762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 b="1">
                <a:solidFill>
                  <a:srgbClr val="F7BA2B"/>
                </a:solidFill>
                <a:latin typeface="Segoe UI" panose="020B0502040204020203" pitchFamily="34" charset="0"/>
              </a:rPr>
              <a:t>05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E1EDA9-98D9-FBCD-0788-97481C14C191}"/>
              </a:ext>
            </a:extLst>
          </p:cNvPr>
          <p:cNvSpPr txBox="1"/>
          <p:nvPr/>
        </p:nvSpPr>
        <p:spPr>
          <a:xfrm>
            <a:off x="3327400" y="3708400"/>
            <a:ext cx="25146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FFFFFF"/>
                </a:solidFill>
                <a:latin typeface="Segoe UI" panose="020B0502040204020203" pitchFamily="34" charset="0"/>
              </a:rPr>
              <a:t>Brand presence &amp; demonstrations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576FD62-AD65-4C34-5C06-90396DD7CDD6}"/>
              </a:ext>
            </a:extLst>
          </p:cNvPr>
          <p:cNvSpPr txBox="1"/>
          <p:nvPr/>
        </p:nvSpPr>
        <p:spPr>
          <a:xfrm>
            <a:off x="3327400" y="4165600"/>
            <a:ext cx="25146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D2D2D2"/>
                </a:solidFill>
                <a:latin typeface="Segoe UI" panose="020B0502040204020203" pitchFamily="34" charset="0"/>
              </a:rPr>
              <a:t>An on-site footprint enables marketing and OEM demonstrations at India's flagship proving ground.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5B8BB75-0CA2-C314-BF61-64C6A7CFF4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4876800"/>
            <a:ext cx="1041400" cy="229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4923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C5E276-0B0D-913F-5FE9-208CE37D3232}"/>
              </a:ext>
            </a:extLst>
          </p:cNvPr>
          <p:cNvSpPr txBox="1"/>
          <p:nvPr/>
        </p:nvSpPr>
        <p:spPr>
          <a:xfrm>
            <a:off x="635000" y="558800"/>
            <a:ext cx="787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F7BA2B"/>
                </a:solidFill>
                <a:latin typeface="Segoe UI" panose="020B0502040204020203" pitchFamily="34" charset="0"/>
              </a:rPr>
              <a:t>OPERATIONS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47DA9-5FF3-28FC-67F9-1D6F10D9048F}"/>
              </a:ext>
            </a:extLst>
          </p:cNvPr>
          <p:cNvSpPr txBox="1"/>
          <p:nvPr/>
        </p:nvSpPr>
        <p:spPr>
          <a:xfrm>
            <a:off x="635000" y="939800"/>
            <a:ext cx="8128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600" b="1">
                <a:solidFill>
                  <a:srgbClr val="FFFFFF"/>
                </a:solidFill>
                <a:latin typeface="Segoe UI" panose="020B0502040204020203" pitchFamily="34" charset="0"/>
              </a:rPr>
              <a:t>Key tasks performed at the workshop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43FEBF-EBEF-5B7A-23C0-A852E5F10FF2}"/>
              </a:ext>
            </a:extLst>
          </p:cNvPr>
          <p:cNvSpPr txBox="1"/>
          <p:nvPr/>
        </p:nvSpPr>
        <p:spPr>
          <a:xfrm>
            <a:off x="635000" y="1676400"/>
            <a:ext cx="508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F7BA2B"/>
                </a:solidFill>
                <a:latin typeface="Segoe UI" panose="020B0502040204020203" pitchFamily="34" charset="0"/>
              </a:rPr>
              <a:t>01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84241F-7644-6089-97AE-3FE7238B7D32}"/>
              </a:ext>
            </a:extLst>
          </p:cNvPr>
          <p:cNvSpPr txBox="1"/>
          <p:nvPr/>
        </p:nvSpPr>
        <p:spPr>
          <a:xfrm>
            <a:off x="1016000" y="1676400"/>
            <a:ext cx="36195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50" b="1">
                <a:solidFill>
                  <a:srgbClr val="FFFFFF"/>
                </a:solidFill>
                <a:latin typeface="Segoe UI" panose="020B0502040204020203" pitchFamily="34" charset="0"/>
              </a:rPr>
              <a:t>Vehicle receipt &amp; inspection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8E4081-397E-E787-1942-C53B6421F93A}"/>
              </a:ext>
            </a:extLst>
          </p:cNvPr>
          <p:cNvSpPr txBox="1"/>
          <p:nvPr/>
        </p:nvSpPr>
        <p:spPr>
          <a:xfrm>
            <a:off x="1016000" y="1905000"/>
            <a:ext cx="36195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>
                <a:solidFill>
                  <a:srgbClr val="D2D2D2"/>
                </a:solidFill>
                <a:latin typeface="Segoe UI" panose="020B0502040204020203" pitchFamily="34" charset="0"/>
              </a:rPr>
              <a:t>Intake check and custody log for every OEM vehicle handed to SightLine.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A7477F-C3B3-1E22-0902-20C1C9056ED6}"/>
              </a:ext>
            </a:extLst>
          </p:cNvPr>
          <p:cNvSpPr txBox="1"/>
          <p:nvPr/>
        </p:nvSpPr>
        <p:spPr>
          <a:xfrm>
            <a:off x="4699000" y="1676400"/>
            <a:ext cx="508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F7BA2B"/>
                </a:solidFill>
                <a:latin typeface="Segoe UI" panose="020B0502040204020203" pitchFamily="34" charset="0"/>
              </a:rPr>
              <a:t>02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981F99-0A30-14AF-A826-0AF23445CDF0}"/>
              </a:ext>
            </a:extLst>
          </p:cNvPr>
          <p:cNvSpPr txBox="1"/>
          <p:nvPr/>
        </p:nvSpPr>
        <p:spPr>
          <a:xfrm>
            <a:off x="5080000" y="1676400"/>
            <a:ext cx="36195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50" b="1">
                <a:solidFill>
                  <a:srgbClr val="FFFFFF"/>
                </a:solidFill>
                <a:latin typeface="Segoe UI" panose="020B0502040204020203" pitchFamily="34" charset="0"/>
              </a:rPr>
              <a:t>Tire fitting &amp; wheel balancing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DF24CC-6029-5DFB-C06D-47A27ED12DA6}"/>
              </a:ext>
            </a:extLst>
          </p:cNvPr>
          <p:cNvSpPr txBox="1"/>
          <p:nvPr/>
        </p:nvSpPr>
        <p:spPr>
          <a:xfrm>
            <a:off x="5080000" y="1905000"/>
            <a:ext cx="36195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>
                <a:solidFill>
                  <a:srgbClr val="D2D2D2"/>
                </a:solidFill>
                <a:latin typeface="Segoe UI" panose="020B0502040204020203" pitchFamily="34" charset="0"/>
              </a:rPr>
              <a:t>Mount, dismount and balance prototype and reference tires for each build.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427982-0901-1545-1182-F1A222781587}"/>
              </a:ext>
            </a:extLst>
          </p:cNvPr>
          <p:cNvSpPr txBox="1"/>
          <p:nvPr/>
        </p:nvSpPr>
        <p:spPr>
          <a:xfrm>
            <a:off x="635000" y="2463800"/>
            <a:ext cx="508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F7BA2B"/>
                </a:solidFill>
                <a:latin typeface="Segoe UI" panose="020B0502040204020203" pitchFamily="34" charset="0"/>
              </a:rPr>
              <a:t>03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39361E-3E33-9A14-31A9-579FA6EBA71D}"/>
              </a:ext>
            </a:extLst>
          </p:cNvPr>
          <p:cNvSpPr txBox="1"/>
          <p:nvPr/>
        </p:nvSpPr>
        <p:spPr>
          <a:xfrm>
            <a:off x="1016000" y="2463800"/>
            <a:ext cx="36195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50" b="1">
                <a:solidFill>
                  <a:srgbClr val="FFFFFF"/>
                </a:solidFill>
                <a:latin typeface="Segoe UI" panose="020B0502040204020203" pitchFamily="34" charset="0"/>
              </a:rPr>
              <a:t>Instrumentation install &amp; calibration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9D5DCA-E869-280B-A933-54A4246829AE}"/>
              </a:ext>
            </a:extLst>
          </p:cNvPr>
          <p:cNvSpPr txBox="1"/>
          <p:nvPr/>
        </p:nvSpPr>
        <p:spPr>
          <a:xfrm>
            <a:off x="1016000" y="2692400"/>
            <a:ext cx="36195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>
                <a:solidFill>
                  <a:srgbClr val="D2D2D2"/>
                </a:solidFill>
                <a:latin typeface="Segoe UI" panose="020B0502040204020203" pitchFamily="34" charset="0"/>
              </a:rPr>
              <a:t>Fit and calibrate VBOX, IMU, TPMS and CAN loggers before every run.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213554-6A8C-557F-5D84-34CB16C809BE}"/>
              </a:ext>
            </a:extLst>
          </p:cNvPr>
          <p:cNvSpPr txBox="1"/>
          <p:nvPr/>
        </p:nvSpPr>
        <p:spPr>
          <a:xfrm>
            <a:off x="4699000" y="2463800"/>
            <a:ext cx="508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F7BA2B"/>
                </a:solidFill>
                <a:latin typeface="Segoe UI" panose="020B0502040204020203" pitchFamily="34" charset="0"/>
              </a:rPr>
              <a:t>04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331F85-63BF-0C81-3BA9-06D4AF348B09}"/>
              </a:ext>
            </a:extLst>
          </p:cNvPr>
          <p:cNvSpPr txBox="1"/>
          <p:nvPr/>
        </p:nvSpPr>
        <p:spPr>
          <a:xfrm>
            <a:off x="5080000" y="2463800"/>
            <a:ext cx="36195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50" b="1">
                <a:solidFill>
                  <a:srgbClr val="FFFFFF"/>
                </a:solidFill>
                <a:latin typeface="Segoe UI" panose="020B0502040204020203" pitchFamily="34" charset="0"/>
              </a:rPr>
              <a:t>Lift access &amp; vehicle prep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FEB1D0-D990-F0C7-BBCA-02808A9655E7}"/>
              </a:ext>
            </a:extLst>
          </p:cNvPr>
          <p:cNvSpPr txBox="1"/>
          <p:nvPr/>
        </p:nvSpPr>
        <p:spPr>
          <a:xfrm>
            <a:off x="5080000" y="2692400"/>
            <a:ext cx="36195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>
                <a:solidFill>
                  <a:srgbClr val="D2D2D2"/>
                </a:solidFill>
                <a:latin typeface="Segoe UI" panose="020B0502040204020203" pitchFamily="34" charset="0"/>
              </a:rPr>
              <a:t>2-post lift for underbody checks, sensor mounting and ride-height setup.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CD9EDB-0829-E925-7857-6ACF24F85CCB}"/>
              </a:ext>
            </a:extLst>
          </p:cNvPr>
          <p:cNvSpPr txBox="1"/>
          <p:nvPr/>
        </p:nvSpPr>
        <p:spPr>
          <a:xfrm>
            <a:off x="635000" y="3251200"/>
            <a:ext cx="508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F7BA2B"/>
                </a:solidFill>
                <a:latin typeface="Segoe UI" panose="020B0502040204020203" pitchFamily="34" charset="0"/>
              </a:rPr>
              <a:t>05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D9C6AB0-F8A1-CCAC-4420-8A94C303A48F}"/>
              </a:ext>
            </a:extLst>
          </p:cNvPr>
          <p:cNvSpPr txBox="1"/>
          <p:nvPr/>
        </p:nvSpPr>
        <p:spPr>
          <a:xfrm>
            <a:off x="1016000" y="3251200"/>
            <a:ext cx="36195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50" b="1">
                <a:solidFill>
                  <a:srgbClr val="FFFFFF"/>
                </a:solidFill>
                <a:latin typeface="Segoe UI" panose="020B0502040204020203" pitchFamily="34" charset="0"/>
              </a:rPr>
              <a:t>Test data download &amp; backup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2A9411C-D9E2-D2A8-402E-AD4C9892139D}"/>
              </a:ext>
            </a:extLst>
          </p:cNvPr>
          <p:cNvSpPr txBox="1"/>
          <p:nvPr/>
        </p:nvSpPr>
        <p:spPr>
          <a:xfrm>
            <a:off x="1016000" y="3479800"/>
            <a:ext cx="36195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>
                <a:solidFill>
                  <a:srgbClr val="D2D2D2"/>
                </a:solidFill>
                <a:latin typeface="Segoe UI" panose="020B0502040204020203" pitchFamily="34" charset="0"/>
              </a:rPr>
              <a:t>Offload GL2000 / CANape logs and back them up after each session.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71DB39A-7DEA-826D-82FF-B8A2400BF361}"/>
              </a:ext>
            </a:extLst>
          </p:cNvPr>
          <p:cNvSpPr txBox="1"/>
          <p:nvPr/>
        </p:nvSpPr>
        <p:spPr>
          <a:xfrm>
            <a:off x="4699000" y="3251200"/>
            <a:ext cx="508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F7BA2B"/>
                </a:solidFill>
                <a:latin typeface="Segoe UI" panose="020B0502040204020203" pitchFamily="34" charset="0"/>
              </a:rPr>
              <a:t>06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C2CC13D-0CA5-F6C6-72EF-A3D2205DE459}"/>
              </a:ext>
            </a:extLst>
          </p:cNvPr>
          <p:cNvSpPr txBox="1"/>
          <p:nvPr/>
        </p:nvSpPr>
        <p:spPr>
          <a:xfrm>
            <a:off x="5080000" y="3251200"/>
            <a:ext cx="36195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50" b="1">
                <a:solidFill>
                  <a:srgbClr val="FFFFFF"/>
                </a:solidFill>
                <a:latin typeface="Segoe UI" panose="020B0502040204020203" pitchFamily="34" charset="0"/>
              </a:rPr>
              <a:t>Secure tire &amp; equipment storage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17BAD28-29F3-8F03-6960-8F3D25FDFE47}"/>
              </a:ext>
            </a:extLst>
          </p:cNvPr>
          <p:cNvSpPr txBox="1"/>
          <p:nvPr/>
        </p:nvSpPr>
        <p:spPr>
          <a:xfrm>
            <a:off x="5080000" y="3479800"/>
            <a:ext cx="36195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>
                <a:solidFill>
                  <a:srgbClr val="D2D2D2"/>
                </a:solidFill>
                <a:latin typeface="Segoe UI" panose="020B0502040204020203" pitchFamily="34" charset="0"/>
              </a:rPr>
              <a:t>Log tires and instruments in and out between test campaigns.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AAB8B00-C112-E6AE-D27A-B5EB777F5581}"/>
              </a:ext>
            </a:extLst>
          </p:cNvPr>
          <p:cNvSpPr txBox="1"/>
          <p:nvPr/>
        </p:nvSpPr>
        <p:spPr>
          <a:xfrm>
            <a:off x="635000" y="4038600"/>
            <a:ext cx="508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F7BA2B"/>
                </a:solidFill>
                <a:latin typeface="Segoe UI" panose="020B0502040204020203" pitchFamily="34" charset="0"/>
              </a:rPr>
              <a:t>07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1B55E08-6BCB-C2EB-061A-790D9F6D15A7}"/>
              </a:ext>
            </a:extLst>
          </p:cNvPr>
          <p:cNvSpPr txBox="1"/>
          <p:nvPr/>
        </p:nvSpPr>
        <p:spPr>
          <a:xfrm>
            <a:off x="1016000" y="4038600"/>
            <a:ext cx="36195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50" b="1">
                <a:solidFill>
                  <a:srgbClr val="FFFFFF"/>
                </a:solidFill>
                <a:latin typeface="Segoe UI" panose="020B0502040204020203" pitchFamily="34" charset="0"/>
              </a:rPr>
              <a:t>Equipment upkeep &amp; calibration checks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263B8C0-0074-A6BA-513D-930866BFCA1A}"/>
              </a:ext>
            </a:extLst>
          </p:cNvPr>
          <p:cNvSpPr txBox="1"/>
          <p:nvPr/>
        </p:nvSpPr>
        <p:spPr>
          <a:xfrm>
            <a:off x="1016000" y="4267200"/>
            <a:ext cx="36195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>
                <a:solidFill>
                  <a:srgbClr val="D2D2D2"/>
                </a:solidFill>
                <a:latin typeface="Segoe UI" panose="020B0502040204020203" pitchFamily="34" charset="0"/>
              </a:rPr>
              <a:t>Routine maintenance of loggers, rigs and tools between programmes.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1DDAAE0-D720-F6C5-FC64-074ABF81FB15}"/>
              </a:ext>
            </a:extLst>
          </p:cNvPr>
          <p:cNvSpPr txBox="1"/>
          <p:nvPr/>
        </p:nvSpPr>
        <p:spPr>
          <a:xfrm>
            <a:off x="4699000" y="4038600"/>
            <a:ext cx="508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F7BA2B"/>
                </a:solidFill>
                <a:latin typeface="Segoe UI" panose="020B0502040204020203" pitchFamily="34" charset="0"/>
              </a:rPr>
              <a:t>08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95091B9-65E6-62EB-EACC-DAF8E1F0307B}"/>
              </a:ext>
            </a:extLst>
          </p:cNvPr>
          <p:cNvSpPr txBox="1"/>
          <p:nvPr/>
        </p:nvSpPr>
        <p:spPr>
          <a:xfrm>
            <a:off x="5080000" y="4038600"/>
            <a:ext cx="36195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50" b="1">
                <a:solidFill>
                  <a:srgbClr val="FFFFFF"/>
                </a:solidFill>
                <a:latin typeface="Segoe UI" panose="020B0502040204020203" pitchFamily="34" charset="0"/>
              </a:rPr>
              <a:t>Vehicle security &amp; custody handling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C52F1A8-8820-0E8C-6D87-D36E41713C73}"/>
              </a:ext>
            </a:extLst>
          </p:cNvPr>
          <p:cNvSpPr txBox="1"/>
          <p:nvPr/>
        </p:nvSpPr>
        <p:spPr>
          <a:xfrm>
            <a:off x="5080000" y="4267200"/>
            <a:ext cx="36195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>
                <a:solidFill>
                  <a:srgbClr val="D2D2D2"/>
                </a:solidFill>
                <a:latin typeface="Segoe UI" panose="020B0502040204020203" pitchFamily="34" charset="0"/>
              </a:rPr>
              <a:t>Covered, access-controlled parking for vehicles in our care.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B38947D-807A-EC03-121C-88748C4B67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4876800"/>
            <a:ext cx="1041400" cy="229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085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BBD2C8-1493-28D4-AC92-94D3FD907ED3}"/>
              </a:ext>
            </a:extLst>
          </p:cNvPr>
          <p:cNvSpPr txBox="1"/>
          <p:nvPr/>
        </p:nvSpPr>
        <p:spPr>
          <a:xfrm>
            <a:off x="635000" y="558800"/>
            <a:ext cx="787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F7BA2B"/>
                </a:solidFill>
                <a:latin typeface="Segoe UI" panose="020B0502040204020203" pitchFamily="34" charset="0"/>
              </a:rPr>
              <a:t>RECOMMENDATION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CF6137-4E15-4A90-8ED5-E54F8CD0AB01}"/>
              </a:ext>
            </a:extLst>
          </p:cNvPr>
          <p:cNvSpPr txBox="1"/>
          <p:nvPr/>
        </p:nvSpPr>
        <p:spPr>
          <a:xfrm>
            <a:off x="635000" y="939800"/>
            <a:ext cx="8128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600" b="1">
                <a:solidFill>
                  <a:srgbClr val="FFFFFF"/>
                </a:solidFill>
                <a:latin typeface="Segoe UI" panose="020B0502040204020203" pitchFamily="34" charset="0"/>
              </a:rPr>
              <a:t>Recommended garage layout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8ECB84-7FA0-EEA7-C986-5F852CB330CD}"/>
              </a:ext>
            </a:extLst>
          </p:cNvPr>
          <p:cNvSpPr txBox="1"/>
          <p:nvPr/>
        </p:nvSpPr>
        <p:spPr>
          <a:xfrm>
            <a:off x="635000" y="1473200"/>
            <a:ext cx="8128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D2D2D2"/>
                </a:solidFill>
                <a:latin typeface="Segoe UI" panose="020B0502040204020203" pitchFamily="34" charset="0"/>
              </a:rPr>
              <a:t>A lean, secure footprint sized for today's programme, with room to grow into the future Indore lab.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0F0FE6-C7C4-F347-1C65-E6F4EEC7848F}"/>
              </a:ext>
            </a:extLst>
          </p:cNvPr>
          <p:cNvSpPr/>
          <p:nvPr/>
        </p:nvSpPr>
        <p:spPr>
          <a:xfrm>
            <a:off x="635000" y="1854200"/>
            <a:ext cx="3873500" cy="711200"/>
          </a:xfrm>
          <a:prstGeom prst="rect">
            <a:avLst/>
          </a:prstGeom>
          <a:solidFill>
            <a:srgbClr val="152752"/>
          </a:solidFill>
          <a:ln w="12700">
            <a:solidFill>
              <a:srgbClr val="2A3C6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15DFC6-4A5E-6F0F-D99D-343CCF20B125}"/>
              </a:ext>
            </a:extLst>
          </p:cNvPr>
          <p:cNvSpPr txBox="1"/>
          <p:nvPr/>
        </p:nvSpPr>
        <p:spPr>
          <a:xfrm>
            <a:off x="635000" y="2006600"/>
            <a:ext cx="3873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F7BA2B"/>
                </a:solidFill>
                <a:latin typeface="Segoe UI" panose="020B0502040204020203" pitchFamily="34" charset="0"/>
              </a:rPr>
              <a:t>VEHICLE BAY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92E168-7A5A-F22F-B06E-D85239AA2E16}"/>
              </a:ext>
            </a:extLst>
          </p:cNvPr>
          <p:cNvSpPr txBox="1"/>
          <p:nvPr/>
        </p:nvSpPr>
        <p:spPr>
          <a:xfrm>
            <a:off x="635000" y="2260600"/>
            <a:ext cx="38735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D2D2D2"/>
                </a:solidFill>
                <a:latin typeface="Segoe UI" panose="020B0502040204020203" pitchFamily="34" charset="0"/>
              </a:rPr>
              <a:t>2-post lift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47541E5-8F69-534D-E6CA-0F8BD2E84E26}"/>
              </a:ext>
            </a:extLst>
          </p:cNvPr>
          <p:cNvSpPr/>
          <p:nvPr/>
        </p:nvSpPr>
        <p:spPr>
          <a:xfrm>
            <a:off x="4635500" y="1854200"/>
            <a:ext cx="3873500" cy="711200"/>
          </a:xfrm>
          <a:prstGeom prst="rect">
            <a:avLst/>
          </a:prstGeom>
          <a:solidFill>
            <a:srgbClr val="152752"/>
          </a:solidFill>
          <a:ln w="12700">
            <a:solidFill>
              <a:srgbClr val="2A3C6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B3C591-B1D4-47B4-14BF-16CA4E1EFD6B}"/>
              </a:ext>
            </a:extLst>
          </p:cNvPr>
          <p:cNvSpPr txBox="1"/>
          <p:nvPr/>
        </p:nvSpPr>
        <p:spPr>
          <a:xfrm>
            <a:off x="4635500" y="2006600"/>
            <a:ext cx="3873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F7BA2B"/>
                </a:solidFill>
                <a:latin typeface="Segoe UI" panose="020B0502040204020203" pitchFamily="34" charset="0"/>
              </a:rPr>
              <a:t>VEHICLE BAY 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98C459-9DDD-BF67-D02A-B2A48CA3A47C}"/>
              </a:ext>
            </a:extLst>
          </p:cNvPr>
          <p:cNvSpPr txBox="1"/>
          <p:nvPr/>
        </p:nvSpPr>
        <p:spPr>
          <a:xfrm>
            <a:off x="4635500" y="2260600"/>
            <a:ext cx="38735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D2D2D2"/>
                </a:solidFill>
                <a:latin typeface="Segoe UI" panose="020B0502040204020203" pitchFamily="34" charset="0"/>
              </a:rPr>
              <a:t>2-post lift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ADFFCC0-C499-7939-14FF-9F403EC6FF68}"/>
              </a:ext>
            </a:extLst>
          </p:cNvPr>
          <p:cNvSpPr/>
          <p:nvPr/>
        </p:nvSpPr>
        <p:spPr>
          <a:xfrm>
            <a:off x="635000" y="2641600"/>
            <a:ext cx="4508500" cy="584200"/>
          </a:xfrm>
          <a:prstGeom prst="rect">
            <a:avLst/>
          </a:prstGeom>
          <a:solidFill>
            <a:srgbClr val="152752"/>
          </a:solidFill>
          <a:ln w="12700">
            <a:solidFill>
              <a:srgbClr val="2A3C6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FC8A89-24A8-56A9-640B-BB23CFFA78D2}"/>
              </a:ext>
            </a:extLst>
          </p:cNvPr>
          <p:cNvSpPr txBox="1"/>
          <p:nvPr/>
        </p:nvSpPr>
        <p:spPr>
          <a:xfrm>
            <a:off x="635000" y="2730500"/>
            <a:ext cx="4508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F7BA2B"/>
                </a:solidFill>
                <a:latin typeface="Segoe UI" panose="020B0502040204020203" pitchFamily="34" charset="0"/>
              </a:rPr>
              <a:t>SECURE TIRE &amp; INSTRUMENT STORE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051B28-CAA2-E4B2-823A-856F2D7289B0}"/>
              </a:ext>
            </a:extLst>
          </p:cNvPr>
          <p:cNvSpPr txBox="1"/>
          <p:nvPr/>
        </p:nvSpPr>
        <p:spPr>
          <a:xfrm>
            <a:off x="635000" y="2984500"/>
            <a:ext cx="45085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D2D2D2"/>
                </a:solidFill>
                <a:latin typeface="Segoe UI" panose="020B0502040204020203" pitchFamily="34" charset="0"/>
              </a:rPr>
              <a:t>lockable · logged in/out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10ED43E-CB73-B5B0-6CF1-8785B3EDDA24}"/>
              </a:ext>
            </a:extLst>
          </p:cNvPr>
          <p:cNvSpPr/>
          <p:nvPr/>
        </p:nvSpPr>
        <p:spPr>
          <a:xfrm>
            <a:off x="5270500" y="2641600"/>
            <a:ext cx="3238500" cy="584200"/>
          </a:xfrm>
          <a:prstGeom prst="rect">
            <a:avLst/>
          </a:prstGeom>
          <a:solidFill>
            <a:srgbClr val="152752"/>
          </a:solidFill>
          <a:ln w="12700">
            <a:solidFill>
              <a:srgbClr val="2A3C6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DA1818-DE96-F7EF-A309-84026080444F}"/>
              </a:ext>
            </a:extLst>
          </p:cNvPr>
          <p:cNvSpPr txBox="1"/>
          <p:nvPr/>
        </p:nvSpPr>
        <p:spPr>
          <a:xfrm>
            <a:off x="5270500" y="2730500"/>
            <a:ext cx="3238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F7BA2B"/>
                </a:solidFill>
                <a:latin typeface="Segoe UI" panose="020B0502040204020203" pitchFamily="34" charset="0"/>
              </a:rPr>
              <a:t>INSTRUMENTATION BENCH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6A9231-4B7B-FFA2-9BCD-9D57B0A7F57F}"/>
              </a:ext>
            </a:extLst>
          </p:cNvPr>
          <p:cNvSpPr txBox="1"/>
          <p:nvPr/>
        </p:nvSpPr>
        <p:spPr>
          <a:xfrm>
            <a:off x="5270500" y="2984500"/>
            <a:ext cx="32385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D2D2D2"/>
                </a:solidFill>
                <a:latin typeface="Segoe UI" panose="020B0502040204020203" pitchFamily="34" charset="0"/>
              </a:rPr>
              <a:t>future lab seed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9E4F8F9-E97B-592A-C8DB-DCB01DC16687}"/>
              </a:ext>
            </a:extLst>
          </p:cNvPr>
          <p:cNvSpPr/>
          <p:nvPr/>
        </p:nvSpPr>
        <p:spPr>
          <a:xfrm>
            <a:off x="635000" y="3302000"/>
            <a:ext cx="2540000" cy="508000"/>
          </a:xfrm>
          <a:prstGeom prst="rect">
            <a:avLst/>
          </a:prstGeom>
          <a:solidFill>
            <a:srgbClr val="152752"/>
          </a:solidFill>
          <a:ln w="12700">
            <a:solidFill>
              <a:srgbClr val="2A3C6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29DCF54-65E9-6FC0-0680-5E929EEE5C64}"/>
              </a:ext>
            </a:extLst>
          </p:cNvPr>
          <p:cNvSpPr txBox="1"/>
          <p:nvPr/>
        </p:nvSpPr>
        <p:spPr>
          <a:xfrm>
            <a:off x="635000" y="3352800"/>
            <a:ext cx="254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F7BA2B"/>
                </a:solidFill>
                <a:latin typeface="Segoe UI" panose="020B0502040204020203" pitchFamily="34" charset="0"/>
              </a:rPr>
              <a:t>SEATING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FA4520A-2F77-B97F-138B-5CCCC3853B5F}"/>
              </a:ext>
            </a:extLst>
          </p:cNvPr>
          <p:cNvSpPr/>
          <p:nvPr/>
        </p:nvSpPr>
        <p:spPr>
          <a:xfrm>
            <a:off x="3302000" y="3302000"/>
            <a:ext cx="2540000" cy="508000"/>
          </a:xfrm>
          <a:prstGeom prst="rect">
            <a:avLst/>
          </a:prstGeom>
          <a:solidFill>
            <a:srgbClr val="152752"/>
          </a:solidFill>
          <a:ln w="12700">
            <a:solidFill>
              <a:srgbClr val="2A3C6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9347FF9-376E-40D6-7E0E-16E94B23242D}"/>
              </a:ext>
            </a:extLst>
          </p:cNvPr>
          <p:cNvSpPr txBox="1"/>
          <p:nvPr/>
        </p:nvSpPr>
        <p:spPr>
          <a:xfrm>
            <a:off x="3302000" y="3352800"/>
            <a:ext cx="254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F7BA2B"/>
                </a:solidFill>
                <a:latin typeface="Segoe UI" panose="020B0502040204020203" pitchFamily="34" charset="0"/>
              </a:rPr>
              <a:t>PANTRY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63AA9CC-C04B-FFEA-94CA-27C6908E8FF1}"/>
              </a:ext>
            </a:extLst>
          </p:cNvPr>
          <p:cNvSpPr/>
          <p:nvPr/>
        </p:nvSpPr>
        <p:spPr>
          <a:xfrm>
            <a:off x="5969000" y="3302000"/>
            <a:ext cx="2540000" cy="508000"/>
          </a:xfrm>
          <a:prstGeom prst="rect">
            <a:avLst/>
          </a:prstGeom>
          <a:solidFill>
            <a:srgbClr val="152752"/>
          </a:solidFill>
          <a:ln w="12700">
            <a:solidFill>
              <a:srgbClr val="2A3C6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7DA14E3-4CF4-78AE-06C1-0D47FADF7684}"/>
              </a:ext>
            </a:extLst>
          </p:cNvPr>
          <p:cNvSpPr txBox="1"/>
          <p:nvPr/>
        </p:nvSpPr>
        <p:spPr>
          <a:xfrm>
            <a:off x="5969000" y="3352800"/>
            <a:ext cx="254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F7BA2B"/>
                </a:solidFill>
                <a:latin typeface="Segoe UI" panose="020B0502040204020203" pitchFamily="34" charset="0"/>
              </a:rPr>
              <a:t>WASHROOM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B3527A2-F735-C74E-F494-52F1A9D15273}"/>
              </a:ext>
            </a:extLst>
          </p:cNvPr>
          <p:cNvSpPr txBox="1"/>
          <p:nvPr/>
        </p:nvSpPr>
        <p:spPr>
          <a:xfrm>
            <a:off x="635000" y="3987800"/>
            <a:ext cx="2667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 b="1">
                <a:solidFill>
                  <a:srgbClr val="FFFFFF"/>
                </a:solidFill>
                <a:latin typeface="Segoe UI" panose="020B0502040204020203" pitchFamily="34" charset="0"/>
              </a:rPr>
              <a:t>- ~1,800-2,200 sq ft to start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76D6A47-E1EE-1E95-4068-4F7BBC96B3D8}"/>
              </a:ext>
            </a:extLst>
          </p:cNvPr>
          <p:cNvSpPr txBox="1"/>
          <p:nvPr/>
        </p:nvSpPr>
        <p:spPr>
          <a:xfrm>
            <a:off x="3365500" y="3987800"/>
            <a:ext cx="2667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 b="1">
                <a:solidFill>
                  <a:srgbClr val="FFFFFF"/>
                </a:solidFill>
                <a:latin typeface="Segoe UI" panose="020B0502040204020203" pitchFamily="34" charset="0"/>
              </a:rPr>
              <a:t>- CCTV across bays &amp; store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FF00290-EF29-8FFC-48A7-E28C78F0EA6D}"/>
              </a:ext>
            </a:extLst>
          </p:cNvPr>
          <p:cNvSpPr txBox="1"/>
          <p:nvPr/>
        </p:nvSpPr>
        <p:spPr>
          <a:xfrm>
            <a:off x="6096000" y="3987800"/>
            <a:ext cx="2667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 b="1">
                <a:solidFill>
                  <a:srgbClr val="FFFFFF"/>
                </a:solidFill>
                <a:latin typeface="Segoe UI" panose="020B0502040204020203" pitchFamily="34" charset="0"/>
              </a:rPr>
              <a:t>- Access-controlled entry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3DF89E9-E6DE-C5EA-0677-82B70153E849}"/>
              </a:ext>
            </a:extLst>
          </p:cNvPr>
          <p:cNvSpPr txBox="1"/>
          <p:nvPr/>
        </p:nvSpPr>
        <p:spPr>
          <a:xfrm>
            <a:off x="635000" y="4292600"/>
            <a:ext cx="2667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 b="1">
                <a:solidFill>
                  <a:srgbClr val="FFFFFF"/>
                </a:solidFill>
                <a:latin typeface="Segoe UI" panose="020B0502040204020203" pitchFamily="34" charset="0"/>
              </a:rPr>
              <a:t>- Workshop-standard fire &amp; lighting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B214AA9-1055-A50C-668A-249F193DBCE3}"/>
              </a:ext>
            </a:extLst>
          </p:cNvPr>
          <p:cNvSpPr txBox="1"/>
          <p:nvPr/>
        </p:nvSpPr>
        <p:spPr>
          <a:xfrm>
            <a:off x="3365500" y="4292600"/>
            <a:ext cx="2667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 b="1">
                <a:solidFill>
                  <a:srgbClr val="FFFFFF"/>
                </a:solidFill>
                <a:latin typeface="Segoe UI" panose="020B0502040204020203" pitchFamily="34" charset="0"/>
              </a:rPr>
              <a:t>- Spill containment at the tire bay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5B6E16D9-E5F6-C6AD-F849-5860695998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4876800"/>
            <a:ext cx="1041400" cy="229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7110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8B01E9-0C6A-5941-5961-E11650AB4D45}"/>
              </a:ext>
            </a:extLst>
          </p:cNvPr>
          <p:cNvSpPr txBox="1"/>
          <p:nvPr/>
        </p:nvSpPr>
        <p:spPr>
          <a:xfrm>
            <a:off x="635000" y="558800"/>
            <a:ext cx="787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F7BA2B"/>
                </a:solidFill>
                <a:latin typeface="Segoe UI" panose="020B0502040204020203" pitchFamily="34" charset="0"/>
              </a:rPr>
              <a:t>INVESTMENT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6BE704-3A39-F83E-5E19-3C13FB463B64}"/>
              </a:ext>
            </a:extLst>
          </p:cNvPr>
          <p:cNvSpPr txBox="1"/>
          <p:nvPr/>
        </p:nvSpPr>
        <p:spPr>
          <a:xfrm>
            <a:off x="635000" y="939800"/>
            <a:ext cx="8128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600" b="1">
                <a:solidFill>
                  <a:srgbClr val="FFFFFF"/>
                </a:solidFill>
                <a:latin typeface="Segoe UI" panose="020B0502040204020203" pitchFamily="34" charset="0"/>
              </a:rPr>
              <a:t>What the garage needs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270E44-982D-DFFB-363E-3333C1EE2B1A}"/>
              </a:ext>
            </a:extLst>
          </p:cNvPr>
          <p:cNvSpPr txBox="1"/>
          <p:nvPr/>
        </p:nvSpPr>
        <p:spPr>
          <a:xfrm>
            <a:off x="635000" y="1905000"/>
            <a:ext cx="3810000" cy="86177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5600" b="1">
                <a:solidFill>
                  <a:srgbClr val="F7BA2B"/>
                </a:solidFill>
                <a:latin typeface="Segoe UI" panose="020B0502040204020203" pitchFamily="34" charset="0"/>
              </a:rPr>
              <a:t>₹15-20L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B60C6C-499E-EE65-CE16-FD354D7B4761}"/>
              </a:ext>
            </a:extLst>
          </p:cNvPr>
          <p:cNvSpPr txBox="1"/>
          <p:nvPr/>
        </p:nvSpPr>
        <p:spPr>
          <a:xfrm>
            <a:off x="635000" y="2844800"/>
            <a:ext cx="381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D2D2D2"/>
                </a:solidFill>
                <a:latin typeface="Segoe UI" panose="020B0502040204020203" pitchFamily="34" charset="0"/>
              </a:rPr>
              <a:t>Estimated annual workshop budget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17BC0D-E661-B01D-5EB1-BC755E63C86D}"/>
              </a:ext>
            </a:extLst>
          </p:cNvPr>
          <p:cNvSpPr txBox="1"/>
          <p:nvPr/>
        </p:nvSpPr>
        <p:spPr>
          <a:xfrm>
            <a:off x="4826000" y="1905000"/>
            <a:ext cx="3683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F7BA2B"/>
                </a:solidFill>
                <a:latin typeface="Segoe UI" panose="020B0502040204020203" pitchFamily="34" charset="0"/>
              </a:rPr>
              <a:t>EQUIPMENT · NATRAX-PROVIDED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523F852-369F-4901-B82D-C5A893253699}"/>
              </a:ext>
            </a:extLst>
          </p:cNvPr>
          <p:cNvCxnSpPr/>
          <p:nvPr/>
        </p:nvCxnSpPr>
        <p:spPr>
          <a:xfrm>
            <a:off x="4826000" y="2184400"/>
            <a:ext cx="3683000" cy="0"/>
          </a:xfrm>
          <a:prstGeom prst="line">
            <a:avLst/>
          </a:prstGeom>
          <a:ln w="12700">
            <a:solidFill>
              <a:srgbClr val="2A3C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FB74F94-AFD3-E577-2062-5A3B54C0265A}"/>
              </a:ext>
            </a:extLst>
          </p:cNvPr>
          <p:cNvSpPr txBox="1"/>
          <p:nvPr/>
        </p:nvSpPr>
        <p:spPr>
          <a:xfrm>
            <a:off x="4826000" y="2311400"/>
            <a:ext cx="36830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50">
                <a:solidFill>
                  <a:srgbClr val="FFFFFF"/>
                </a:solidFill>
                <a:latin typeface="Segoe UI" panose="020B0502040204020203" pitchFamily="34" charset="0"/>
              </a:rPr>
              <a:t>2-Post Lift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6A4716D-985A-AC68-1949-FABA67978E0E}"/>
              </a:ext>
            </a:extLst>
          </p:cNvPr>
          <p:cNvCxnSpPr/>
          <p:nvPr/>
        </p:nvCxnSpPr>
        <p:spPr>
          <a:xfrm>
            <a:off x="4826000" y="2616200"/>
            <a:ext cx="3683000" cy="0"/>
          </a:xfrm>
          <a:prstGeom prst="line">
            <a:avLst/>
          </a:prstGeom>
          <a:ln w="9525">
            <a:solidFill>
              <a:srgbClr val="2A3C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4F2C176-FDD6-D35B-D2D4-0E3C87945460}"/>
              </a:ext>
            </a:extLst>
          </p:cNvPr>
          <p:cNvSpPr txBox="1"/>
          <p:nvPr/>
        </p:nvSpPr>
        <p:spPr>
          <a:xfrm>
            <a:off x="4826000" y="2717800"/>
            <a:ext cx="36830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50">
                <a:solidFill>
                  <a:srgbClr val="FFFFFF"/>
                </a:solidFill>
                <a:latin typeface="Segoe UI" panose="020B0502040204020203" pitchFamily="34" charset="0"/>
              </a:rPr>
              <a:t>Tire Changer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7F7C845-BF82-C317-9403-33526FB66806}"/>
              </a:ext>
            </a:extLst>
          </p:cNvPr>
          <p:cNvCxnSpPr/>
          <p:nvPr/>
        </p:nvCxnSpPr>
        <p:spPr>
          <a:xfrm>
            <a:off x="4826000" y="3022600"/>
            <a:ext cx="3683000" cy="0"/>
          </a:xfrm>
          <a:prstGeom prst="line">
            <a:avLst/>
          </a:prstGeom>
          <a:ln w="9525">
            <a:solidFill>
              <a:srgbClr val="2A3C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34BA9AC-456D-A97E-7D6A-3A9BA0E9EBEF}"/>
              </a:ext>
            </a:extLst>
          </p:cNvPr>
          <p:cNvSpPr txBox="1"/>
          <p:nvPr/>
        </p:nvSpPr>
        <p:spPr>
          <a:xfrm>
            <a:off x="4826000" y="3124200"/>
            <a:ext cx="36830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50">
                <a:solidFill>
                  <a:srgbClr val="FFFFFF"/>
                </a:solidFill>
                <a:latin typeface="Segoe UI" panose="020B0502040204020203" pitchFamily="34" charset="0"/>
              </a:rPr>
              <a:t>Wheel Balancing Machine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E031D5B-993C-3465-337A-AA6FFE7E8294}"/>
              </a:ext>
            </a:extLst>
          </p:cNvPr>
          <p:cNvCxnSpPr/>
          <p:nvPr/>
        </p:nvCxnSpPr>
        <p:spPr>
          <a:xfrm>
            <a:off x="4826000" y="3429000"/>
            <a:ext cx="3683000" cy="0"/>
          </a:xfrm>
          <a:prstGeom prst="line">
            <a:avLst/>
          </a:prstGeom>
          <a:ln w="9525">
            <a:solidFill>
              <a:srgbClr val="2A3C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29841DD-422C-3A09-6096-D481BB449446}"/>
              </a:ext>
            </a:extLst>
          </p:cNvPr>
          <p:cNvSpPr txBox="1"/>
          <p:nvPr/>
        </p:nvSpPr>
        <p:spPr>
          <a:xfrm>
            <a:off x="635000" y="3708400"/>
            <a:ext cx="381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F7BA2B"/>
                </a:solidFill>
                <a:latin typeface="Segoe UI" panose="020B0502040204020203" pitchFamily="34" charset="0"/>
              </a:rPr>
              <a:t>WORKSHOP &amp; AMENITIES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E131A1B-0A8A-68E7-8D75-B3D5F0BFBC62}"/>
              </a:ext>
            </a:extLst>
          </p:cNvPr>
          <p:cNvCxnSpPr/>
          <p:nvPr/>
        </p:nvCxnSpPr>
        <p:spPr>
          <a:xfrm>
            <a:off x="635000" y="3987800"/>
            <a:ext cx="3810000" cy="0"/>
          </a:xfrm>
          <a:prstGeom prst="line">
            <a:avLst/>
          </a:prstGeom>
          <a:ln w="12700">
            <a:solidFill>
              <a:srgbClr val="2A3C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3BE7EF6-A138-5B31-AEE0-A4E5BCB7FAE5}"/>
              </a:ext>
            </a:extLst>
          </p:cNvPr>
          <p:cNvSpPr txBox="1"/>
          <p:nvPr/>
        </p:nvSpPr>
        <p:spPr>
          <a:xfrm>
            <a:off x="635000" y="4089400"/>
            <a:ext cx="3810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50">
                <a:solidFill>
                  <a:srgbClr val="FFFFFF"/>
                </a:solidFill>
                <a:latin typeface="Segoe UI" panose="020B0502040204020203" pitchFamily="34" charset="0"/>
              </a:rPr>
              <a:t>- Secure Tire &amp; Instrument Storage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4A849D-9508-CC7B-F819-A3DD55461FEF}"/>
              </a:ext>
            </a:extLst>
          </p:cNvPr>
          <p:cNvSpPr txBox="1"/>
          <p:nvPr/>
        </p:nvSpPr>
        <p:spPr>
          <a:xfrm>
            <a:off x="635000" y="4343400"/>
            <a:ext cx="3810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50">
                <a:solidFill>
                  <a:srgbClr val="FFFFFF"/>
                </a:solidFill>
                <a:latin typeface="Segoe UI" panose="020B0502040204020203" pitchFamily="34" charset="0"/>
              </a:rPr>
              <a:t>- Seating Area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B9D0B5-A9B5-CA29-56A3-9182F95CA9FE}"/>
              </a:ext>
            </a:extLst>
          </p:cNvPr>
          <p:cNvSpPr txBox="1"/>
          <p:nvPr/>
        </p:nvSpPr>
        <p:spPr>
          <a:xfrm>
            <a:off x="635000" y="4597400"/>
            <a:ext cx="3810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50">
                <a:solidFill>
                  <a:srgbClr val="FFFFFF"/>
                </a:solidFill>
                <a:latin typeface="Segoe UI" panose="020B0502040204020203" pitchFamily="34" charset="0"/>
              </a:rPr>
              <a:t>- Pantry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04AE015-9E92-A3F4-2C6E-437DA385C1AC}"/>
              </a:ext>
            </a:extLst>
          </p:cNvPr>
          <p:cNvSpPr txBox="1"/>
          <p:nvPr/>
        </p:nvSpPr>
        <p:spPr>
          <a:xfrm>
            <a:off x="635000" y="4851400"/>
            <a:ext cx="3810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50">
                <a:solidFill>
                  <a:srgbClr val="FFFFFF"/>
                </a:solidFill>
                <a:latin typeface="Segoe UI" panose="020B0502040204020203" pitchFamily="34" charset="0"/>
              </a:rPr>
              <a:t>- Attached Washroom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BCDAC86-479C-235F-D833-1B4B6FFEC8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4876800"/>
            <a:ext cx="1041400" cy="229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0777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4ADC2E-97D4-595F-9AC2-47D43C8ACFF3}"/>
              </a:ext>
            </a:extLst>
          </p:cNvPr>
          <p:cNvSpPr txBox="1"/>
          <p:nvPr/>
        </p:nvSpPr>
        <p:spPr>
          <a:xfrm>
            <a:off x="635000" y="558800"/>
            <a:ext cx="787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F7BA2B"/>
                </a:solidFill>
                <a:latin typeface="Segoe UI" panose="020B0502040204020203" pitchFamily="34" charset="0"/>
              </a:rPr>
              <a:t>WHY NATRAX, WHY NOW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62EE50-7668-8DBF-58AA-F42C336A584F}"/>
              </a:ext>
            </a:extLst>
          </p:cNvPr>
          <p:cNvSpPr txBox="1"/>
          <p:nvPr/>
        </p:nvSpPr>
        <p:spPr>
          <a:xfrm>
            <a:off x="635000" y="939800"/>
            <a:ext cx="8128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500" b="1">
                <a:solidFill>
                  <a:srgbClr val="FFFFFF"/>
                </a:solidFill>
                <a:latin typeface="Segoe UI" panose="020B0502040204020203" pitchFamily="34" charset="0"/>
              </a:rPr>
              <a:t>NATRAX is becoming India's vehicle-validation hub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8A53C8-9BC4-111B-6040-FD1CD779BD28}"/>
              </a:ext>
            </a:extLst>
          </p:cNvPr>
          <p:cNvSpPr txBox="1"/>
          <p:nvPr/>
        </p:nvSpPr>
        <p:spPr>
          <a:xfrm>
            <a:off x="635000" y="1778000"/>
            <a:ext cx="8128000" cy="6001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D2D2D2"/>
                </a:solidFill>
                <a:latin typeface="Segoe UI" panose="020B0502040204020203" pitchFamily="34" charset="0"/>
              </a:rPr>
              <a:t>India's largest proving ground - 3,000 acres, 14 tracks, NABL-accredited - and still growing. OEMs and Tier-1s are increasingly centring their India validation work here. Establishing dedicated infrastructure now positions Goodyear ahead of the curve, operationally and in brand visibility.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82B8CBC-1CF0-AFCA-8CBA-C0D6D9C1D68A}"/>
              </a:ext>
            </a:extLst>
          </p:cNvPr>
          <p:cNvCxnSpPr/>
          <p:nvPr/>
        </p:nvCxnSpPr>
        <p:spPr>
          <a:xfrm>
            <a:off x="635000" y="2946400"/>
            <a:ext cx="8128000" cy="0"/>
          </a:xfrm>
          <a:prstGeom prst="line">
            <a:avLst/>
          </a:prstGeom>
          <a:ln w="9525">
            <a:solidFill>
              <a:srgbClr val="2A3C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73EB88D-D558-CA56-E412-80AE59BF437F}"/>
              </a:ext>
            </a:extLst>
          </p:cNvPr>
          <p:cNvSpPr txBox="1"/>
          <p:nvPr/>
        </p:nvSpPr>
        <p:spPr>
          <a:xfrm>
            <a:off x="635000" y="3073400"/>
            <a:ext cx="81280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50" b="1">
                <a:solidFill>
                  <a:srgbClr val="F7BA2B"/>
                </a:solidFill>
                <a:latin typeface="Segoe UI" panose="020B0502040204020203" pitchFamily="34" charset="0"/>
              </a:rPr>
              <a:t>-   ARAI opened a new vehicle-evaluation office on site (2026)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5B32846-C522-D119-D798-4F08B9DE3D0B}"/>
              </a:ext>
            </a:extLst>
          </p:cNvPr>
          <p:cNvCxnSpPr/>
          <p:nvPr/>
        </p:nvCxnSpPr>
        <p:spPr>
          <a:xfrm>
            <a:off x="635000" y="3505200"/>
            <a:ext cx="8128000" cy="0"/>
          </a:xfrm>
          <a:prstGeom prst="line">
            <a:avLst/>
          </a:prstGeom>
          <a:ln w="9525">
            <a:solidFill>
              <a:srgbClr val="2A3C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2DB21E4-6523-500F-67A8-7B0AD3DCEC54}"/>
              </a:ext>
            </a:extLst>
          </p:cNvPr>
          <p:cNvSpPr txBox="1"/>
          <p:nvPr/>
        </p:nvSpPr>
        <p:spPr>
          <a:xfrm>
            <a:off x="635000" y="3632200"/>
            <a:ext cx="81280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50" b="1">
                <a:solidFill>
                  <a:srgbClr val="F7BA2B"/>
                </a:solidFill>
                <a:latin typeface="Segoe UI" panose="020B0502040204020203" pitchFamily="34" charset="0"/>
              </a:rPr>
              <a:t>-   New MoU signed with NAMTECH (2026)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49CBC4D-DADC-E598-8CE9-BE55D82BD98D}"/>
              </a:ext>
            </a:extLst>
          </p:cNvPr>
          <p:cNvCxnSpPr/>
          <p:nvPr/>
        </p:nvCxnSpPr>
        <p:spPr>
          <a:xfrm>
            <a:off x="635000" y="4064000"/>
            <a:ext cx="8128000" cy="0"/>
          </a:xfrm>
          <a:prstGeom prst="line">
            <a:avLst/>
          </a:prstGeom>
          <a:ln w="9525">
            <a:solidFill>
              <a:srgbClr val="2A3C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F96F87F-3A26-CC5E-12A5-1089FA1A4E10}"/>
              </a:ext>
            </a:extLst>
          </p:cNvPr>
          <p:cNvSpPr txBox="1"/>
          <p:nvPr/>
        </p:nvSpPr>
        <p:spPr>
          <a:xfrm>
            <a:off x="635000" y="4191000"/>
            <a:ext cx="81280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50" b="1">
                <a:solidFill>
                  <a:srgbClr val="F7BA2B"/>
                </a:solidFill>
                <a:latin typeface="Segoe UI" panose="020B0502040204020203" pitchFamily="34" charset="0"/>
              </a:rPr>
              <a:t>-   Marked its 5th Foundation Day in 2026 - still early in its growth curve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32A5703-7F49-B394-E61E-2F57592F42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4876800"/>
            <a:ext cx="1041400" cy="229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6832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893D69-76CA-FF64-F38A-FDC274EDB892}"/>
              </a:ext>
            </a:extLst>
          </p:cNvPr>
          <p:cNvSpPr txBox="1"/>
          <p:nvPr/>
        </p:nvSpPr>
        <p:spPr>
          <a:xfrm>
            <a:off x="635000" y="558800"/>
            <a:ext cx="787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F7BA2B"/>
                </a:solidFill>
                <a:latin typeface="Segoe UI" panose="020B0502040204020203" pitchFamily="34" charset="0"/>
              </a:rPr>
              <a:t>LOOKING AHEAD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2C344E-D5D8-F933-8F80-8F03CD121189}"/>
              </a:ext>
            </a:extLst>
          </p:cNvPr>
          <p:cNvSpPr txBox="1"/>
          <p:nvPr/>
        </p:nvSpPr>
        <p:spPr>
          <a:xfrm>
            <a:off x="635000" y="939800"/>
            <a:ext cx="8128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500" b="1">
                <a:solidFill>
                  <a:srgbClr val="FFFFFF"/>
                </a:solidFill>
                <a:latin typeface="Segoe UI" panose="020B0502040204020203" pitchFamily="34" charset="0"/>
              </a:rPr>
              <a:t>NATRAX is central to SightLine's India future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9CF987-6723-DD10-3CC7-0C11DE31183B}"/>
              </a:ext>
            </a:extLst>
          </p:cNvPr>
          <p:cNvSpPr/>
          <p:nvPr/>
        </p:nvSpPr>
        <p:spPr>
          <a:xfrm>
            <a:off x="635000" y="1625600"/>
            <a:ext cx="8128000" cy="1016000"/>
          </a:xfrm>
          <a:prstGeom prst="rect">
            <a:avLst/>
          </a:prstGeom>
          <a:solidFill>
            <a:srgbClr val="152752"/>
          </a:solidFill>
          <a:ln w="15875">
            <a:solidFill>
              <a:srgbClr val="F7BA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DE9662-96AD-E022-A0F1-E47F8B3592C8}"/>
              </a:ext>
            </a:extLst>
          </p:cNvPr>
          <p:cNvSpPr txBox="1"/>
          <p:nvPr/>
        </p:nvSpPr>
        <p:spPr>
          <a:xfrm>
            <a:off x="838200" y="1778000"/>
            <a:ext cx="7747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F7BA2B"/>
                </a:solidFill>
                <a:latin typeface="Segoe UI" panose="020B0502040204020203" pitchFamily="34" charset="0"/>
              </a:rPr>
              <a:t>India's ONLY dedicated AQD (aquaplaning) track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59B2B3-7AC2-9F5E-C3B0-3DFDB16739B0}"/>
              </a:ext>
            </a:extLst>
          </p:cNvPr>
          <p:cNvSpPr txBox="1"/>
          <p:nvPr/>
        </p:nvSpPr>
        <p:spPr>
          <a:xfrm>
            <a:off x="838200" y="2133600"/>
            <a:ext cx="7747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50">
                <a:solidFill>
                  <a:srgbClr val="FFFFFF"/>
                </a:solidFill>
                <a:latin typeface="Segoe UI" panose="020B0502040204020203" pitchFamily="34" charset="0"/>
              </a:rPr>
              <a:t>Currently longitudinal (straight-line). NATRAX is pushing for curved &amp; lateral aquaplaning tracks - a direct match to SightLine's AQD validation, found nowhere else in India.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FEE21F6-DB15-3536-98E8-96A1E86EE622}"/>
              </a:ext>
            </a:extLst>
          </p:cNvPr>
          <p:cNvCxnSpPr/>
          <p:nvPr/>
        </p:nvCxnSpPr>
        <p:spPr>
          <a:xfrm>
            <a:off x="635000" y="2971800"/>
            <a:ext cx="8128000" cy="0"/>
          </a:xfrm>
          <a:prstGeom prst="line">
            <a:avLst/>
          </a:prstGeom>
          <a:ln w="12700">
            <a:solidFill>
              <a:srgbClr val="2A3C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49F15AB-EF62-BD20-DEE4-C802569DFCF7}"/>
              </a:ext>
            </a:extLst>
          </p:cNvPr>
          <p:cNvSpPr txBox="1"/>
          <p:nvPr/>
        </p:nvSpPr>
        <p:spPr>
          <a:xfrm>
            <a:off x="635000" y="3149600"/>
            <a:ext cx="24765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F7BA2B"/>
                </a:solidFill>
                <a:latin typeface="Segoe UI" panose="020B0502040204020203" pitchFamily="34" charset="0"/>
              </a:rPr>
              <a:t>Main national hub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8E5A86-B6E6-46C8-29DE-6E9ECEB06FFE}"/>
              </a:ext>
            </a:extLst>
          </p:cNvPr>
          <p:cNvSpPr txBox="1"/>
          <p:nvPr/>
        </p:nvSpPr>
        <p:spPr>
          <a:xfrm>
            <a:off x="635000" y="3429000"/>
            <a:ext cx="2476500" cy="5078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D2D2D2"/>
                </a:solidFill>
                <a:latin typeface="Segoe UI" panose="020B0502040204020203" pitchFamily="34" charset="0"/>
              </a:rPr>
              <a:t>NATRAX is becoming India's main test hub - a dedicated Test Agency is now allocated on site.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38F277-406E-E2E2-2940-68DAE18E45F9}"/>
              </a:ext>
            </a:extLst>
          </p:cNvPr>
          <p:cNvSpPr txBox="1"/>
          <p:nvPr/>
        </p:nvSpPr>
        <p:spPr>
          <a:xfrm>
            <a:off x="3327400" y="3149600"/>
            <a:ext cx="24765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F7BA2B"/>
                </a:solidFill>
                <a:latin typeface="Segoe UI" panose="020B0502040204020203" pitchFamily="34" charset="0"/>
              </a:rPr>
              <a:t>Low-cost resources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B5B341-172A-C5AF-8A1F-161321445DFA}"/>
              </a:ext>
            </a:extLst>
          </p:cNvPr>
          <p:cNvSpPr txBox="1"/>
          <p:nvPr/>
        </p:nvSpPr>
        <p:spPr>
          <a:xfrm>
            <a:off x="3327400" y="3429000"/>
            <a:ext cx="2476500" cy="5078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D2D2D2"/>
                </a:solidFill>
                <a:latin typeface="Segoe UI" panose="020B0502040204020203" pitchFamily="34" charset="0"/>
              </a:rPr>
              <a:t>Testing, manpower and logistics here are highly cost-effective versus other grounds.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2BD006-CBEC-E543-5298-E6C328A91F60}"/>
              </a:ext>
            </a:extLst>
          </p:cNvPr>
          <p:cNvSpPr txBox="1"/>
          <p:nvPr/>
        </p:nvSpPr>
        <p:spPr>
          <a:xfrm>
            <a:off x="6019800" y="3149600"/>
            <a:ext cx="24765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F7BA2B"/>
                </a:solidFill>
                <a:latin typeface="Segoe UI" panose="020B0502040204020203" pitchFamily="34" charset="0"/>
              </a:rPr>
              <a:t>Demonstration platform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EC3546-16F0-64B5-C5C4-EEE5CE8F4776}"/>
              </a:ext>
            </a:extLst>
          </p:cNvPr>
          <p:cNvSpPr txBox="1"/>
          <p:nvPr/>
        </p:nvSpPr>
        <p:spPr>
          <a:xfrm>
            <a:off x="6019800" y="3429000"/>
            <a:ext cx="2476500" cy="5078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D2D2D2"/>
                </a:solidFill>
                <a:latin typeface="Segoe UI" panose="020B0502040204020203" pitchFamily="34" charset="0"/>
              </a:rPr>
              <a:t>A permanent base makes future customer and OEM demonstrations easy to host on-site.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2C91A9E-80C8-3D7D-6FE6-34A272C848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4876800"/>
            <a:ext cx="1041400" cy="229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5245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34F38B-0AF8-8A1D-733F-4F47DD1DC124}"/>
              </a:ext>
            </a:extLst>
          </p:cNvPr>
          <p:cNvSpPr txBox="1"/>
          <p:nvPr/>
        </p:nvSpPr>
        <p:spPr>
          <a:xfrm>
            <a:off x="635000" y="558800"/>
            <a:ext cx="787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F7BA2B"/>
                </a:solidFill>
                <a:latin typeface="Segoe UI" panose="020B0502040204020203" pitchFamily="34" charset="0"/>
              </a:rPr>
              <a:t>NEXT STEPS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043718-B8E9-4E20-2F59-7D8B1FD970E0}"/>
              </a:ext>
            </a:extLst>
          </p:cNvPr>
          <p:cNvSpPr txBox="1"/>
          <p:nvPr/>
        </p:nvSpPr>
        <p:spPr>
          <a:xfrm>
            <a:off x="635000" y="1397000"/>
            <a:ext cx="8128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000" b="1">
                <a:solidFill>
                  <a:srgbClr val="FFFFFF"/>
                </a:solidFill>
                <a:latin typeface="Segoe UI" panose="020B0502040204020203" pitchFamily="34" charset="0"/>
              </a:rPr>
              <a:t>Three steps to a decision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28D41D5-0272-0C7A-45C5-4ADBEE493B0C}"/>
              </a:ext>
            </a:extLst>
          </p:cNvPr>
          <p:cNvCxnSpPr/>
          <p:nvPr/>
        </p:nvCxnSpPr>
        <p:spPr>
          <a:xfrm>
            <a:off x="635000" y="3175000"/>
            <a:ext cx="8128000" cy="0"/>
          </a:xfrm>
          <a:prstGeom prst="line">
            <a:avLst/>
          </a:prstGeom>
          <a:ln w="12700">
            <a:solidFill>
              <a:srgbClr val="2A3C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0FD6298-AB92-64A4-D892-3EF4AC443C26}"/>
              </a:ext>
            </a:extLst>
          </p:cNvPr>
          <p:cNvSpPr txBox="1"/>
          <p:nvPr/>
        </p:nvSpPr>
        <p:spPr>
          <a:xfrm>
            <a:off x="635000" y="33274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F7BA2B"/>
                </a:solidFill>
                <a:latin typeface="Segoe UI" panose="020B0502040204020203" pitchFamily="34" charset="0"/>
              </a:rPr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367C5F-D769-CCDA-3E29-B576E39E9605}"/>
              </a:ext>
            </a:extLst>
          </p:cNvPr>
          <p:cNvSpPr txBox="1"/>
          <p:nvPr/>
        </p:nvSpPr>
        <p:spPr>
          <a:xfrm>
            <a:off x="635000" y="3810000"/>
            <a:ext cx="24765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Segoe UI" panose="020B0502040204020203" pitchFamily="34" charset="0"/>
              </a:rPr>
              <a:t>Confirm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300E5D-D99E-6B71-65A7-1B1998C0D2CF}"/>
              </a:ext>
            </a:extLst>
          </p:cNvPr>
          <p:cNvSpPr txBox="1"/>
          <p:nvPr/>
        </p:nvSpPr>
        <p:spPr>
          <a:xfrm>
            <a:off x="635000" y="4089400"/>
            <a:ext cx="24765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D2D2D2"/>
                </a:solidFill>
                <a:latin typeface="Segoe UI" panose="020B0502040204020203" pitchFamily="34" charset="0"/>
              </a:rPr>
              <a:t>Garage / bay availability and size with NATRAX.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6E9C9A-8FEF-BDCC-7DA8-FBB5DD09FF1D}"/>
              </a:ext>
            </a:extLst>
          </p:cNvPr>
          <p:cNvSpPr txBox="1"/>
          <p:nvPr/>
        </p:nvSpPr>
        <p:spPr>
          <a:xfrm>
            <a:off x="3327400" y="33274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F7BA2B"/>
                </a:solidFill>
                <a:latin typeface="Segoe UI" panose="020B0502040204020203" pitchFamily="34" charset="0"/>
              </a:rPr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CED5F7-8379-495A-AC61-EFDA862E7ECC}"/>
              </a:ext>
            </a:extLst>
          </p:cNvPr>
          <p:cNvSpPr txBox="1"/>
          <p:nvPr/>
        </p:nvSpPr>
        <p:spPr>
          <a:xfrm>
            <a:off x="3327400" y="3810000"/>
            <a:ext cx="24765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Segoe UI" panose="020B0502040204020203" pitchFamily="34" charset="0"/>
              </a:rPr>
              <a:t>Define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564F6D-C69F-600B-819F-003089D7A89A}"/>
              </a:ext>
            </a:extLst>
          </p:cNvPr>
          <p:cNvSpPr txBox="1"/>
          <p:nvPr/>
        </p:nvSpPr>
        <p:spPr>
          <a:xfrm>
            <a:off x="3327400" y="4089400"/>
            <a:ext cx="24765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D2D2D2"/>
                </a:solidFill>
                <a:latin typeface="Segoe UI" panose="020B0502040204020203" pitchFamily="34" charset="0"/>
              </a:rPr>
              <a:t>Secure storage and a basic, lab-ready fit-out.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8E9B59-3093-5AF7-8414-50E9C6EA5F13}"/>
              </a:ext>
            </a:extLst>
          </p:cNvPr>
          <p:cNvSpPr txBox="1"/>
          <p:nvPr/>
        </p:nvSpPr>
        <p:spPr>
          <a:xfrm>
            <a:off x="6019800" y="33274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F7BA2B"/>
                </a:solidFill>
                <a:latin typeface="Segoe UI" panose="020B0502040204020203" pitchFamily="34" charset="0"/>
              </a:rPr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5552D4-CD82-2EA0-FE4F-CBCBBB29AF80}"/>
              </a:ext>
            </a:extLst>
          </p:cNvPr>
          <p:cNvSpPr txBox="1"/>
          <p:nvPr/>
        </p:nvSpPr>
        <p:spPr>
          <a:xfrm>
            <a:off x="6019800" y="3810000"/>
            <a:ext cx="24765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Segoe UI" panose="020B0502040204020203" pitchFamily="34" charset="0"/>
              </a:rPr>
              <a:t>Approve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7D7A9A-894E-64EB-D533-2F653C8E0805}"/>
              </a:ext>
            </a:extLst>
          </p:cNvPr>
          <p:cNvSpPr txBox="1"/>
          <p:nvPr/>
        </p:nvSpPr>
        <p:spPr>
          <a:xfrm>
            <a:off x="6019800" y="4089400"/>
            <a:ext cx="2476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D2D2D2"/>
                </a:solidFill>
                <a:latin typeface="Segoe UI" panose="020B0502040204020203" pitchFamily="34" charset="0"/>
              </a:rPr>
              <a:t>Budget and the lease / allocation.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7107499-C690-CE0A-AE97-0A7C197E2C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" y="4597400"/>
            <a:ext cx="1905000" cy="419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2730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1088</Words>
  <Application>Microsoft Office PowerPoint</Application>
  <PresentationFormat>On-screen Show (16:9)</PresentationFormat>
  <Paragraphs>165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Dhrupad Mullath Anilkumar</dc:creator>
  <cp:lastModifiedBy>Dhrupad Mullath Anilkumar</cp:lastModifiedBy>
  <cp:revision>2</cp:revision>
  <dcterms:created xsi:type="dcterms:W3CDTF">2026-08-10T04:00:48Z</dcterms:created>
  <dcterms:modified xsi:type="dcterms:W3CDTF">2026-08-10T04:23:18Z</dcterms:modified>
</cp:coreProperties>
</file>